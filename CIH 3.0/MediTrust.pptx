
<file path=[Content_Types].xml><?xml version="1.0" encoding="utf-8"?>
<Types xmlns="http://schemas.openxmlformats.org/package/2006/content-types">
  <Default Extension="xml" ContentType="application/xml"/>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xml" ContentType="application/vnd.openxmlformats-officedocument.presentationml.notesSlide+xml"/>
  <Override PartName="/ppt/slides/slide5.xml" ContentType="application/vnd.openxmlformats-officedocument.presentationml.slide+xml"/>
  <Override PartName="/ppt/slides/slide4.xml" ContentType="application/vnd.openxmlformats-officedocument.presentationml.slide+xml"/>
  <Override PartName="/ppt/slides/slide2.xml" ContentType="application/vnd.openxmlformats-officedocument.presentationml.slide+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docProps/core.xml" ContentType="application/vnd.openxmlformats-package.core-properties+xml"/>
  <Override PartName="/ppt/slideLayouts/slideLayout8.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12"/>
  </p:notesMasterIdLst>
  <p:sldIdLst>
    <p:sldId id="256" r:id="rId4"/>
    <p:sldId id="257" r:id="rId5"/>
    <p:sldId id="258" r:id="rId6"/>
    <p:sldId id="259" r:id="rId7"/>
    <p:sldId id="260" r:id="rId8"/>
    <p:sldId id="261" r:id="rId9"/>
    <p:sldId id="262" r:id="rId10"/>
    <p:sldId id="263" r:id="rId11"/>
  </p:sldIdLst>
  <p:sldSz cx="18288000" cy="10287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p:cViewPr varScale="1">
        <p:scale>
          <a:sx n="56" d="100"/>
          <a:sy n="56" d="100"/>
        </p:scale>
        <p:origin x="610" y="67"/>
      </p:cViewPr>
      <p:guideLst>
        <p:guide pos="2160" orient="horz"/>
        <p:guide pos="2880"/>
      </p:guideLst>
    </p:cSldViewPr>
  </p:slideViewPr>
  <p:gridSpacing cx="76200" cy="76200"/>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notesMaster" Target="notesMasters/notesMaster1.xml"/><Relationship Id="rId13" Type="http://schemas.openxmlformats.org/officeDocument/2006/relationships/presProps" Target="presProps.xml" /><Relationship Id="rId14" Type="http://schemas.openxmlformats.org/officeDocument/2006/relationships/tableStyles" Target="tableStyles.xml" /><Relationship Id="rId15"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1142791754"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1016502251"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361072884"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1027004474"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1552624497"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1232024244"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29920868" name="Slide Image Placeholder 1"/>
          <p:cNvSpPr>
            <a:spLocks noChangeAspect="1" noGrp="1" noRot="1"/>
          </p:cNvSpPr>
          <p:nvPr>
            <p:ph type="sldImg"/>
          </p:nvPr>
        </p:nvSpPr>
        <p:spPr bwMode="auto"/>
      </p:sp>
      <p:sp>
        <p:nvSpPr>
          <p:cNvPr id="798402002" name="Notes Placeholder 2"/>
          <p:cNvSpPr>
            <a:spLocks noGrp="1"/>
          </p:cNvSpPr>
          <p:nvPr>
            <p:ph type="body" idx="1"/>
          </p:nvPr>
        </p:nvSpPr>
        <p:spPr bwMode="auto"/>
        <p:txBody>
          <a:bodyPr/>
          <a:lstStyle/>
          <a:p>
            <a:pPr>
              <a:defRPr/>
            </a:pPr>
            <a:endParaRPr/>
          </a:p>
        </p:txBody>
      </p:sp>
      <p:sp>
        <p:nvSpPr>
          <p:cNvPr id="975570134" name="Slide Number Placeholder 3"/>
          <p:cNvSpPr>
            <a:spLocks noGrp="1"/>
          </p:cNvSpPr>
          <p:nvPr>
            <p:ph type="sldNum" sz="quarter" idx="10"/>
          </p:nvPr>
        </p:nvSpPr>
        <p:spPr bwMode="auto"/>
        <p:txBody>
          <a:bodyPr/>
          <a:lstStyle/>
          <a:p>
            <a:pPr>
              <a:defRPr/>
            </a:pPr>
            <a:fld id="{CFDD3708-746C-82BE-1196-7F73657D73E9}"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19512518" name="Slide Image Placeholder 1"/>
          <p:cNvSpPr>
            <a:spLocks noChangeAspect="1" noGrp="1" noRot="1"/>
          </p:cNvSpPr>
          <p:nvPr>
            <p:ph type="sldImg"/>
          </p:nvPr>
        </p:nvSpPr>
        <p:spPr bwMode="auto"/>
      </p:sp>
      <p:sp>
        <p:nvSpPr>
          <p:cNvPr id="2057258698" name="Notes Placeholder 2"/>
          <p:cNvSpPr>
            <a:spLocks noGrp="1"/>
          </p:cNvSpPr>
          <p:nvPr>
            <p:ph type="body" idx="1"/>
          </p:nvPr>
        </p:nvSpPr>
        <p:spPr bwMode="auto"/>
        <p:txBody>
          <a:bodyPr/>
          <a:lstStyle/>
          <a:p>
            <a:pPr>
              <a:defRPr/>
            </a:pPr>
            <a:endParaRPr/>
          </a:p>
        </p:txBody>
      </p:sp>
      <p:sp>
        <p:nvSpPr>
          <p:cNvPr id="1411698918" name="Slide Number Placeholder 3"/>
          <p:cNvSpPr>
            <a:spLocks noGrp="1"/>
          </p:cNvSpPr>
          <p:nvPr>
            <p:ph type="sldNum" sz="quarter" idx="10"/>
          </p:nvPr>
        </p:nvSpPr>
        <p:spPr bwMode="auto"/>
        <p:txBody>
          <a:bodyPr/>
          <a:lstStyle/>
          <a:p>
            <a:pPr>
              <a:defRPr/>
            </a:pPr>
            <a:fld id="{809E8056-0A40-E725-C8A6-87DB802DCAA2}"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016647679" name="Slide Image Placeholder 1"/>
          <p:cNvSpPr>
            <a:spLocks noChangeAspect="1" noGrp="1" noRot="1"/>
          </p:cNvSpPr>
          <p:nvPr>
            <p:ph type="sldImg"/>
          </p:nvPr>
        </p:nvSpPr>
        <p:spPr bwMode="auto"/>
      </p:sp>
      <p:sp>
        <p:nvSpPr>
          <p:cNvPr id="49135642" name="Notes Placeholder 2"/>
          <p:cNvSpPr>
            <a:spLocks noGrp="1"/>
          </p:cNvSpPr>
          <p:nvPr>
            <p:ph type="body" idx="1"/>
          </p:nvPr>
        </p:nvSpPr>
        <p:spPr bwMode="auto"/>
        <p:txBody>
          <a:bodyPr/>
          <a:lstStyle/>
          <a:p>
            <a:pPr>
              <a:defRPr/>
            </a:pPr>
            <a:endParaRPr/>
          </a:p>
        </p:txBody>
      </p:sp>
      <p:sp>
        <p:nvSpPr>
          <p:cNvPr id="445449956" name="Slide Number Placeholder 3"/>
          <p:cNvSpPr>
            <a:spLocks noGrp="1"/>
          </p:cNvSpPr>
          <p:nvPr>
            <p:ph type="sldNum" sz="quarter" idx="10"/>
          </p:nvPr>
        </p:nvSpPr>
        <p:spPr bwMode="auto"/>
        <p:txBody>
          <a:bodyPr/>
          <a:lstStyle/>
          <a:p>
            <a:pPr>
              <a:defRPr/>
            </a:pPr>
            <a:fld id="{4414FAE0-B3BA-D727-E4A8-1B559939B56F}" type="slidenum">
              <a:rPr/>
              <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14528866" name="Slide Image Placeholder 1"/>
          <p:cNvSpPr>
            <a:spLocks noChangeAspect="1" noGrp="1" noRot="1"/>
          </p:cNvSpPr>
          <p:nvPr>
            <p:ph type="sldImg"/>
          </p:nvPr>
        </p:nvSpPr>
        <p:spPr bwMode="auto"/>
      </p:sp>
      <p:sp>
        <p:nvSpPr>
          <p:cNvPr id="1098527529" name="Notes Placeholder 2"/>
          <p:cNvSpPr>
            <a:spLocks noGrp="1"/>
          </p:cNvSpPr>
          <p:nvPr>
            <p:ph type="body" idx="1"/>
          </p:nvPr>
        </p:nvSpPr>
        <p:spPr bwMode="auto"/>
        <p:txBody>
          <a:bodyPr/>
          <a:lstStyle/>
          <a:p>
            <a:pPr>
              <a:defRPr/>
            </a:pPr>
            <a:endParaRPr/>
          </a:p>
        </p:txBody>
      </p:sp>
      <p:sp>
        <p:nvSpPr>
          <p:cNvPr id="385236033" name="Slide Number Placeholder 3"/>
          <p:cNvSpPr>
            <a:spLocks noGrp="1"/>
          </p:cNvSpPr>
          <p:nvPr>
            <p:ph type="sldNum" sz="quarter" idx="10"/>
          </p:nvPr>
        </p:nvSpPr>
        <p:spPr bwMode="auto"/>
        <p:txBody>
          <a:bodyPr/>
          <a:lstStyle/>
          <a:p>
            <a:pPr>
              <a:defRPr/>
            </a:pPr>
            <a:fld id="{591F20EF-5C5B-46BF-8C79-2CC1537CAA45}"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135711" name="Slide Image Placeholder 1"/>
          <p:cNvSpPr>
            <a:spLocks noChangeAspect="1" noGrp="1" noRot="1"/>
          </p:cNvSpPr>
          <p:nvPr>
            <p:ph type="sldImg"/>
          </p:nvPr>
        </p:nvSpPr>
        <p:spPr bwMode="auto"/>
      </p:sp>
      <p:sp>
        <p:nvSpPr>
          <p:cNvPr id="1280173391" name="Notes Placeholder 2"/>
          <p:cNvSpPr>
            <a:spLocks noGrp="1"/>
          </p:cNvSpPr>
          <p:nvPr>
            <p:ph type="body" idx="1"/>
          </p:nvPr>
        </p:nvSpPr>
        <p:spPr bwMode="auto"/>
        <p:txBody>
          <a:bodyPr/>
          <a:lstStyle/>
          <a:p>
            <a:pPr>
              <a:defRPr/>
            </a:pPr>
            <a:endParaRPr/>
          </a:p>
        </p:txBody>
      </p:sp>
      <p:sp>
        <p:nvSpPr>
          <p:cNvPr id="159035888" name="Slide Number Placeholder 3"/>
          <p:cNvSpPr>
            <a:spLocks noGrp="1"/>
          </p:cNvSpPr>
          <p:nvPr>
            <p:ph type="sldNum" sz="quarter" idx="10"/>
          </p:nvPr>
        </p:nvSpPr>
        <p:spPr bwMode="auto"/>
        <p:txBody>
          <a:bodyPr/>
          <a:lstStyle/>
          <a:p>
            <a:pPr>
              <a:defRPr/>
            </a:pPr>
            <a:fld id="{D80E4F75-F06D-34EA-162D-B956E891FFB7}"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04596068" name="Slide Image Placeholder 1"/>
          <p:cNvSpPr>
            <a:spLocks noChangeAspect="1" noGrp="1" noRot="1"/>
          </p:cNvSpPr>
          <p:nvPr>
            <p:ph type="sldImg"/>
          </p:nvPr>
        </p:nvSpPr>
        <p:spPr bwMode="auto"/>
      </p:sp>
      <p:sp>
        <p:nvSpPr>
          <p:cNvPr id="1284856254" name="Notes Placeholder 2"/>
          <p:cNvSpPr>
            <a:spLocks noGrp="1"/>
          </p:cNvSpPr>
          <p:nvPr>
            <p:ph type="body" idx="1"/>
          </p:nvPr>
        </p:nvSpPr>
        <p:spPr bwMode="auto"/>
        <p:txBody>
          <a:bodyPr/>
          <a:lstStyle/>
          <a:p>
            <a:pPr>
              <a:defRPr/>
            </a:pPr>
            <a:endParaRPr/>
          </a:p>
        </p:txBody>
      </p:sp>
      <p:sp>
        <p:nvSpPr>
          <p:cNvPr id="1679218122" name="Slide Number Placeholder 3"/>
          <p:cNvSpPr>
            <a:spLocks noGrp="1"/>
          </p:cNvSpPr>
          <p:nvPr>
            <p:ph type="sldNum" sz="quarter" idx="10"/>
          </p:nvPr>
        </p:nvSpPr>
        <p:spPr bwMode="auto"/>
        <p:txBody>
          <a:bodyPr/>
          <a:lstStyle/>
          <a:p>
            <a:pPr>
              <a:defRPr/>
            </a:pPr>
            <a:fld id="{8541D413-AEE0-BCFF-3849-0CB4958A1ED7}"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84952709" name="Slide Image Placeholder 1"/>
          <p:cNvSpPr>
            <a:spLocks noChangeAspect="1" noGrp="1" noRot="1"/>
          </p:cNvSpPr>
          <p:nvPr>
            <p:ph type="sldImg"/>
          </p:nvPr>
        </p:nvSpPr>
        <p:spPr bwMode="auto"/>
      </p:sp>
      <p:sp>
        <p:nvSpPr>
          <p:cNvPr id="566406277" name="Notes Placeholder 2"/>
          <p:cNvSpPr>
            <a:spLocks noGrp="1"/>
          </p:cNvSpPr>
          <p:nvPr>
            <p:ph type="body" idx="1"/>
          </p:nvPr>
        </p:nvSpPr>
        <p:spPr bwMode="auto"/>
        <p:txBody>
          <a:bodyPr/>
          <a:lstStyle/>
          <a:p>
            <a:pPr>
              <a:defRPr/>
            </a:pPr>
            <a:endParaRPr/>
          </a:p>
        </p:txBody>
      </p:sp>
      <p:sp>
        <p:nvSpPr>
          <p:cNvPr id="186016494" name="Slide Number Placeholder 3"/>
          <p:cNvSpPr>
            <a:spLocks noGrp="1"/>
          </p:cNvSpPr>
          <p:nvPr>
            <p:ph type="sldNum" sz="quarter" idx="10"/>
          </p:nvPr>
        </p:nvSpPr>
        <p:spPr bwMode="auto"/>
        <p:txBody>
          <a:bodyPr/>
          <a:lstStyle/>
          <a:p>
            <a:pPr>
              <a:defRPr/>
            </a:pPr>
            <a:fld id="{1BC228A0-4DFA-D0B5-1FC1-912EA59142CA}"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462585586" name="Slide Image Placeholder 1"/>
          <p:cNvSpPr>
            <a:spLocks noChangeAspect="1" noGrp="1" noRot="1"/>
          </p:cNvSpPr>
          <p:nvPr>
            <p:ph type="sldImg"/>
          </p:nvPr>
        </p:nvSpPr>
        <p:spPr bwMode="auto"/>
      </p:sp>
      <p:sp>
        <p:nvSpPr>
          <p:cNvPr id="210262091" name="Notes Placeholder 2"/>
          <p:cNvSpPr>
            <a:spLocks noGrp="1"/>
          </p:cNvSpPr>
          <p:nvPr>
            <p:ph type="body" idx="1"/>
          </p:nvPr>
        </p:nvSpPr>
        <p:spPr bwMode="auto"/>
        <p:txBody>
          <a:bodyPr/>
          <a:lstStyle/>
          <a:p>
            <a:pPr>
              <a:defRPr/>
            </a:pPr>
            <a:endParaRPr/>
          </a:p>
        </p:txBody>
      </p:sp>
      <p:sp>
        <p:nvSpPr>
          <p:cNvPr id="882695225" name="Slide Number Placeholder 3"/>
          <p:cNvSpPr>
            <a:spLocks noGrp="1"/>
          </p:cNvSpPr>
          <p:nvPr>
            <p:ph type="sldNum" sz="quarter" idx="10"/>
          </p:nvPr>
        </p:nvSpPr>
        <p:spPr bwMode="auto"/>
        <p:txBody>
          <a:bodyPr/>
          <a:lstStyle/>
          <a:p>
            <a:pPr>
              <a:defRPr/>
            </a:pPr>
            <a:fld id="{D295BAA7-39EA-A147-8063-B2D4BB611E0C}"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Title Slide">
    <p:spTree>
      <p:nvGrpSpPr>
        <p:cNvPr id="1" name=""/>
        <p:cNvGrpSpPr/>
        <p:nvPr/>
      </p:nvGrpSpPr>
      <p:grpSpPr bwMode="auto">
        <a:xfrm>
          <a:off x="0" y="0"/>
          <a:ext cx="0" cy="0"/>
          <a:chOff x="0" y="0"/>
          <a:chExt cx="0" cy="0"/>
        </a:xfrm>
      </p:grpSpPr>
      <p:sp>
        <p:nvSpPr>
          <p:cNvPr id="395498122" name="Title 1"/>
          <p:cNvSpPr>
            <a:spLocks noGrp="1"/>
          </p:cNvSpPr>
          <p:nvPr>
            <p:ph type="ctrTitle"/>
          </p:nvPr>
        </p:nvSpPr>
        <p:spPr bwMode="auto">
          <a:xfrm>
            <a:off x="685800" y="2130425"/>
            <a:ext cx="7772400" cy="1470025"/>
          </a:xfrm>
        </p:spPr>
        <p:txBody>
          <a:bodyPr/>
          <a:lstStyle/>
          <a:p>
            <a:pPr>
              <a:defRPr/>
            </a:pPr>
            <a:r>
              <a:rPr lang="en-US"/>
              <a:t>Click to edit Master title style</a:t>
            </a:r>
            <a:endParaRPr/>
          </a:p>
        </p:txBody>
      </p:sp>
      <p:sp>
        <p:nvSpPr>
          <p:cNvPr id="879673726"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endParaRPr/>
          </a:p>
        </p:txBody>
      </p:sp>
      <p:sp>
        <p:nvSpPr>
          <p:cNvPr id="1549760570" name="Date Placeholder 3"/>
          <p:cNvSpPr>
            <a:spLocks noGrp="1"/>
          </p:cNvSpPr>
          <p:nvPr>
            <p:ph type="dt" sz="half" idx="10"/>
          </p:nvPr>
        </p:nvSpPr>
        <p:spPr bwMode="auto"/>
        <p:txBody>
          <a:bodyPr/>
          <a:lstStyle/>
          <a:p>
            <a:pPr>
              <a:defRPr/>
            </a:pPr>
            <a:fld id="{1D8BD707-D9CF-40AE-B4C6-C98DA3205C09}" type="datetimeFigureOut">
              <a:rPr lang="en-US"/>
              <a:t>11/28/2025</a:t>
            </a:fld>
            <a:endParaRPr lang="en-US"/>
          </a:p>
        </p:txBody>
      </p:sp>
      <p:sp>
        <p:nvSpPr>
          <p:cNvPr id="633643379" name="Footer Placeholder 4"/>
          <p:cNvSpPr>
            <a:spLocks noGrp="1"/>
          </p:cNvSpPr>
          <p:nvPr>
            <p:ph type="ftr" sz="quarter" idx="11"/>
          </p:nvPr>
        </p:nvSpPr>
        <p:spPr bwMode="auto"/>
        <p:txBody>
          <a:bodyPr/>
          <a:lstStyle/>
          <a:p>
            <a:pPr>
              <a:defRPr/>
            </a:pPr>
            <a:endParaRPr lang="en-US"/>
          </a:p>
        </p:txBody>
      </p:sp>
      <p:sp>
        <p:nvSpPr>
          <p:cNvPr id="570608319"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Title and Content">
    <p:spTree>
      <p:nvGrpSpPr>
        <p:cNvPr id="1" name=""/>
        <p:cNvGrpSpPr/>
        <p:nvPr/>
      </p:nvGrpSpPr>
      <p:grpSpPr bwMode="auto">
        <a:xfrm>
          <a:off x="0" y="0"/>
          <a:ext cx="0" cy="0"/>
          <a:chOff x="0" y="0"/>
          <a:chExt cx="0" cy="0"/>
        </a:xfrm>
      </p:grpSpPr>
      <p:sp>
        <p:nvSpPr>
          <p:cNvPr id="918067049" name="Title 1"/>
          <p:cNvSpPr>
            <a:spLocks noGrp="1"/>
          </p:cNvSpPr>
          <p:nvPr>
            <p:ph type="title"/>
          </p:nvPr>
        </p:nvSpPr>
        <p:spPr bwMode="auto"/>
        <p:txBody>
          <a:bodyPr/>
          <a:lstStyle/>
          <a:p>
            <a:pPr>
              <a:defRPr/>
            </a:pPr>
            <a:r>
              <a:rPr lang="en-US"/>
              <a:t>Click to edit Master title style</a:t>
            </a:r>
            <a:endParaRPr/>
          </a:p>
        </p:txBody>
      </p:sp>
      <p:sp>
        <p:nvSpPr>
          <p:cNvPr id="1580627838"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593669710" name="Date Placeholder 3"/>
          <p:cNvSpPr>
            <a:spLocks noGrp="1"/>
          </p:cNvSpPr>
          <p:nvPr>
            <p:ph type="dt" sz="half" idx="10"/>
          </p:nvPr>
        </p:nvSpPr>
        <p:spPr bwMode="auto"/>
        <p:txBody>
          <a:bodyPr/>
          <a:lstStyle/>
          <a:p>
            <a:pPr>
              <a:defRPr/>
            </a:pPr>
            <a:fld id="{1D8BD707-D9CF-40AE-B4C6-C98DA3205C09}" type="datetimeFigureOut">
              <a:rPr lang="en-US"/>
              <a:t>11/28/2025</a:t>
            </a:fld>
            <a:endParaRPr lang="en-US"/>
          </a:p>
        </p:txBody>
      </p:sp>
      <p:sp>
        <p:nvSpPr>
          <p:cNvPr id="419433736" name="Footer Placeholder 4"/>
          <p:cNvSpPr>
            <a:spLocks noGrp="1"/>
          </p:cNvSpPr>
          <p:nvPr>
            <p:ph type="ftr" sz="quarter" idx="11"/>
          </p:nvPr>
        </p:nvSpPr>
        <p:spPr bwMode="auto"/>
        <p:txBody>
          <a:bodyPr/>
          <a:lstStyle/>
          <a:p>
            <a:pPr>
              <a:defRPr/>
            </a:pPr>
            <a:endParaRPr lang="en-US"/>
          </a:p>
        </p:txBody>
      </p:sp>
      <p:sp>
        <p:nvSpPr>
          <p:cNvPr id="1916471101"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sp>
        <p:nvSpPr>
          <p:cNvPr id="1253935730"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endParaRPr/>
          </a:p>
        </p:txBody>
      </p:sp>
      <p:sp>
        <p:nvSpPr>
          <p:cNvPr id="1833289896"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1611221916" name="Date Placeholder 3"/>
          <p:cNvSpPr>
            <a:spLocks noGrp="1"/>
          </p:cNvSpPr>
          <p:nvPr>
            <p:ph type="dt" sz="half" idx="10"/>
          </p:nvPr>
        </p:nvSpPr>
        <p:spPr bwMode="auto"/>
        <p:txBody>
          <a:bodyPr/>
          <a:lstStyle/>
          <a:p>
            <a:pPr>
              <a:defRPr/>
            </a:pPr>
            <a:fld id="{1D8BD707-D9CF-40AE-B4C6-C98DA3205C09}" type="datetimeFigureOut">
              <a:rPr lang="en-US"/>
              <a:t>11/28/2025</a:t>
            </a:fld>
            <a:endParaRPr lang="en-US"/>
          </a:p>
        </p:txBody>
      </p:sp>
      <p:sp>
        <p:nvSpPr>
          <p:cNvPr id="1705936806" name="Footer Placeholder 4"/>
          <p:cNvSpPr>
            <a:spLocks noGrp="1"/>
          </p:cNvSpPr>
          <p:nvPr>
            <p:ph type="ftr" sz="quarter" idx="11"/>
          </p:nvPr>
        </p:nvSpPr>
        <p:spPr bwMode="auto"/>
        <p:txBody>
          <a:bodyPr/>
          <a:lstStyle/>
          <a:p>
            <a:pPr>
              <a:defRPr/>
            </a:pPr>
            <a:endParaRPr lang="en-US"/>
          </a:p>
        </p:txBody>
      </p:sp>
      <p:sp>
        <p:nvSpPr>
          <p:cNvPr id="204530748"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Two Content">
    <p:spTree>
      <p:nvGrpSpPr>
        <p:cNvPr id="1" name=""/>
        <p:cNvGrpSpPr/>
        <p:nvPr/>
      </p:nvGrpSpPr>
      <p:grpSpPr bwMode="auto">
        <a:xfrm>
          <a:off x="0" y="0"/>
          <a:ext cx="0" cy="0"/>
          <a:chOff x="0" y="0"/>
          <a:chExt cx="0" cy="0"/>
        </a:xfrm>
      </p:grpSpPr>
      <p:sp>
        <p:nvSpPr>
          <p:cNvPr id="968111234" name="Title 1"/>
          <p:cNvSpPr>
            <a:spLocks noGrp="1"/>
          </p:cNvSpPr>
          <p:nvPr>
            <p:ph type="title"/>
          </p:nvPr>
        </p:nvSpPr>
        <p:spPr bwMode="auto"/>
        <p:txBody>
          <a:bodyPr/>
          <a:lstStyle/>
          <a:p>
            <a:pPr>
              <a:defRPr/>
            </a:pPr>
            <a:r>
              <a:rPr lang="en-US"/>
              <a:t>Click to edit Master title style</a:t>
            </a:r>
            <a:endParaRPr/>
          </a:p>
        </p:txBody>
      </p:sp>
      <p:sp>
        <p:nvSpPr>
          <p:cNvPr id="1682739495"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919503500"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290873788" name="Date Placeholder 4"/>
          <p:cNvSpPr>
            <a:spLocks noGrp="1"/>
          </p:cNvSpPr>
          <p:nvPr>
            <p:ph type="dt" sz="half" idx="10"/>
          </p:nvPr>
        </p:nvSpPr>
        <p:spPr bwMode="auto"/>
        <p:txBody>
          <a:bodyPr/>
          <a:lstStyle/>
          <a:p>
            <a:pPr>
              <a:defRPr/>
            </a:pPr>
            <a:fld id="{1D8BD707-D9CF-40AE-B4C6-C98DA3205C09}" type="datetimeFigureOut">
              <a:rPr lang="en-US"/>
              <a:t>11/28/2025</a:t>
            </a:fld>
            <a:endParaRPr lang="en-US"/>
          </a:p>
        </p:txBody>
      </p:sp>
      <p:sp>
        <p:nvSpPr>
          <p:cNvPr id="451560642" name="Footer Placeholder 5"/>
          <p:cNvSpPr>
            <a:spLocks noGrp="1"/>
          </p:cNvSpPr>
          <p:nvPr>
            <p:ph type="ftr" sz="quarter" idx="11"/>
          </p:nvPr>
        </p:nvSpPr>
        <p:spPr bwMode="auto"/>
        <p:txBody>
          <a:bodyPr/>
          <a:lstStyle/>
          <a:p>
            <a:pPr>
              <a:defRPr/>
            </a:pPr>
            <a:endParaRPr lang="en-US"/>
          </a:p>
        </p:txBody>
      </p:sp>
      <p:sp>
        <p:nvSpPr>
          <p:cNvPr id="919405874"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Comparison">
    <p:spTree>
      <p:nvGrpSpPr>
        <p:cNvPr id="1" name=""/>
        <p:cNvGrpSpPr/>
        <p:nvPr/>
      </p:nvGrpSpPr>
      <p:grpSpPr bwMode="auto">
        <a:xfrm>
          <a:off x="0" y="0"/>
          <a:ext cx="0" cy="0"/>
          <a:chOff x="0" y="0"/>
          <a:chExt cx="0" cy="0"/>
        </a:xfrm>
      </p:grpSpPr>
      <p:sp>
        <p:nvSpPr>
          <p:cNvPr id="1373322770" name="Title 1"/>
          <p:cNvSpPr>
            <a:spLocks noGrp="1"/>
          </p:cNvSpPr>
          <p:nvPr>
            <p:ph type="title"/>
          </p:nvPr>
        </p:nvSpPr>
        <p:spPr bwMode="auto"/>
        <p:txBody>
          <a:bodyPr/>
          <a:lstStyle>
            <a:lvl1pPr>
              <a:defRPr/>
            </a:lvl1pPr>
          </a:lstStyle>
          <a:p>
            <a:pPr>
              <a:defRPr/>
            </a:pPr>
            <a:r>
              <a:rPr lang="en-US"/>
              <a:t>Click to edit Master title style</a:t>
            </a:r>
            <a:endParaRPr/>
          </a:p>
        </p:txBody>
      </p:sp>
      <p:sp>
        <p:nvSpPr>
          <p:cNvPr id="263421825"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768509194"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55189595"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526057872"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103079864" name="Date Placeholder 6"/>
          <p:cNvSpPr>
            <a:spLocks noGrp="1"/>
          </p:cNvSpPr>
          <p:nvPr>
            <p:ph type="dt" sz="half" idx="10"/>
          </p:nvPr>
        </p:nvSpPr>
        <p:spPr bwMode="auto"/>
        <p:txBody>
          <a:bodyPr/>
          <a:lstStyle/>
          <a:p>
            <a:pPr>
              <a:defRPr/>
            </a:pPr>
            <a:fld id="{1D8BD707-D9CF-40AE-B4C6-C98DA3205C09}" type="datetimeFigureOut">
              <a:rPr lang="en-US"/>
              <a:t>11/28/2025</a:t>
            </a:fld>
            <a:endParaRPr lang="en-US"/>
          </a:p>
        </p:txBody>
      </p:sp>
      <p:sp>
        <p:nvSpPr>
          <p:cNvPr id="1579546058" name="Footer Placeholder 7"/>
          <p:cNvSpPr>
            <a:spLocks noGrp="1"/>
          </p:cNvSpPr>
          <p:nvPr>
            <p:ph type="ftr" sz="quarter" idx="11"/>
          </p:nvPr>
        </p:nvSpPr>
        <p:spPr bwMode="auto"/>
        <p:txBody>
          <a:bodyPr/>
          <a:lstStyle/>
          <a:p>
            <a:pPr>
              <a:defRPr/>
            </a:pPr>
            <a:endParaRPr lang="en-US"/>
          </a:p>
        </p:txBody>
      </p:sp>
      <p:sp>
        <p:nvSpPr>
          <p:cNvPr id="1593440851" name="Slide Number Placeholder 8"/>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Title Only">
    <p:spTree>
      <p:nvGrpSpPr>
        <p:cNvPr id="1" name=""/>
        <p:cNvGrpSpPr/>
        <p:nvPr/>
      </p:nvGrpSpPr>
      <p:grpSpPr bwMode="auto">
        <a:xfrm>
          <a:off x="0" y="0"/>
          <a:ext cx="0" cy="0"/>
          <a:chOff x="0" y="0"/>
          <a:chExt cx="0" cy="0"/>
        </a:xfrm>
      </p:grpSpPr>
      <p:sp>
        <p:nvSpPr>
          <p:cNvPr id="1717456103" name="Title 1"/>
          <p:cNvSpPr>
            <a:spLocks noGrp="1"/>
          </p:cNvSpPr>
          <p:nvPr>
            <p:ph type="title"/>
          </p:nvPr>
        </p:nvSpPr>
        <p:spPr bwMode="auto"/>
        <p:txBody>
          <a:bodyPr/>
          <a:lstStyle/>
          <a:p>
            <a:pPr>
              <a:defRPr/>
            </a:pPr>
            <a:r>
              <a:rPr lang="en-US"/>
              <a:t>Click to edit Master title style</a:t>
            </a:r>
            <a:endParaRPr/>
          </a:p>
        </p:txBody>
      </p:sp>
      <p:sp>
        <p:nvSpPr>
          <p:cNvPr id="511202057" name="Date Placeholder 2"/>
          <p:cNvSpPr>
            <a:spLocks noGrp="1"/>
          </p:cNvSpPr>
          <p:nvPr>
            <p:ph type="dt" sz="half" idx="10"/>
          </p:nvPr>
        </p:nvSpPr>
        <p:spPr bwMode="auto"/>
        <p:txBody>
          <a:bodyPr/>
          <a:lstStyle/>
          <a:p>
            <a:pPr>
              <a:defRPr/>
            </a:pPr>
            <a:fld id="{1D8BD707-D9CF-40AE-B4C6-C98DA3205C09}" type="datetimeFigureOut">
              <a:rPr lang="en-US"/>
              <a:t>11/28/2025</a:t>
            </a:fld>
            <a:endParaRPr lang="en-US"/>
          </a:p>
        </p:txBody>
      </p:sp>
      <p:sp>
        <p:nvSpPr>
          <p:cNvPr id="629308338" name="Footer Placeholder 3"/>
          <p:cNvSpPr>
            <a:spLocks noGrp="1"/>
          </p:cNvSpPr>
          <p:nvPr>
            <p:ph type="ftr" sz="quarter" idx="11"/>
          </p:nvPr>
        </p:nvSpPr>
        <p:spPr bwMode="auto"/>
        <p:txBody>
          <a:bodyPr/>
          <a:lstStyle/>
          <a:p>
            <a:pPr>
              <a:defRPr/>
            </a:pPr>
            <a:endParaRPr lang="en-US"/>
          </a:p>
        </p:txBody>
      </p:sp>
      <p:sp>
        <p:nvSpPr>
          <p:cNvPr id="36766275" name="Slide Number Placeholder 4"/>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Blank">
    <p:spTree>
      <p:nvGrpSpPr>
        <p:cNvPr id="1" name=""/>
        <p:cNvGrpSpPr/>
        <p:nvPr/>
      </p:nvGrpSpPr>
      <p:grpSpPr bwMode="auto">
        <a:xfrm>
          <a:off x="0" y="0"/>
          <a:ext cx="0" cy="0"/>
          <a:chOff x="0" y="0"/>
          <a:chExt cx="0" cy="0"/>
        </a:xfrm>
      </p:grpSpPr>
      <p:sp>
        <p:nvSpPr>
          <p:cNvPr id="1375584825" name="Date Placeholder 1"/>
          <p:cNvSpPr>
            <a:spLocks noGrp="1"/>
          </p:cNvSpPr>
          <p:nvPr>
            <p:ph type="dt" sz="half" idx="10"/>
          </p:nvPr>
        </p:nvSpPr>
        <p:spPr bwMode="auto"/>
        <p:txBody>
          <a:bodyPr/>
          <a:lstStyle/>
          <a:p>
            <a:pPr>
              <a:defRPr/>
            </a:pPr>
            <a:fld id="{1D8BD707-D9CF-40AE-B4C6-C98DA3205C09}" type="datetimeFigureOut">
              <a:rPr lang="en-US"/>
              <a:t>11/28/2025</a:t>
            </a:fld>
            <a:endParaRPr lang="en-US"/>
          </a:p>
        </p:txBody>
      </p:sp>
      <p:sp>
        <p:nvSpPr>
          <p:cNvPr id="690756590" name="Footer Placeholder 2"/>
          <p:cNvSpPr>
            <a:spLocks noGrp="1"/>
          </p:cNvSpPr>
          <p:nvPr>
            <p:ph type="ftr" sz="quarter" idx="11"/>
          </p:nvPr>
        </p:nvSpPr>
        <p:spPr bwMode="auto"/>
        <p:txBody>
          <a:bodyPr/>
          <a:lstStyle/>
          <a:p>
            <a:pPr>
              <a:defRPr/>
            </a:pPr>
            <a:endParaRPr lang="en-US"/>
          </a:p>
        </p:txBody>
      </p:sp>
      <p:sp>
        <p:nvSpPr>
          <p:cNvPr id="1980557766" name="Slide Number Placeholder 3"/>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Content with Caption">
    <p:spTree>
      <p:nvGrpSpPr>
        <p:cNvPr id="1" name=""/>
        <p:cNvGrpSpPr/>
        <p:nvPr/>
      </p:nvGrpSpPr>
      <p:grpSpPr bwMode="auto">
        <a:xfrm>
          <a:off x="0" y="0"/>
          <a:ext cx="0" cy="0"/>
          <a:chOff x="0" y="0"/>
          <a:chExt cx="0" cy="0"/>
        </a:xfrm>
      </p:grpSpPr>
      <p:sp>
        <p:nvSpPr>
          <p:cNvPr id="2065353648"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endParaRPr/>
          </a:p>
        </p:txBody>
      </p:sp>
      <p:sp>
        <p:nvSpPr>
          <p:cNvPr id="309064822"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642972303"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1206900001" name="Date Placeholder 4"/>
          <p:cNvSpPr>
            <a:spLocks noGrp="1"/>
          </p:cNvSpPr>
          <p:nvPr>
            <p:ph type="dt" sz="half" idx="10"/>
          </p:nvPr>
        </p:nvSpPr>
        <p:spPr bwMode="auto"/>
        <p:txBody>
          <a:bodyPr/>
          <a:lstStyle/>
          <a:p>
            <a:pPr>
              <a:defRPr/>
            </a:pPr>
            <a:fld id="{1D8BD707-D9CF-40AE-B4C6-C98DA3205C09}" type="datetimeFigureOut">
              <a:rPr lang="en-US"/>
              <a:t>11/28/2025</a:t>
            </a:fld>
            <a:endParaRPr lang="en-US"/>
          </a:p>
        </p:txBody>
      </p:sp>
      <p:sp>
        <p:nvSpPr>
          <p:cNvPr id="304094243" name="Footer Placeholder 5"/>
          <p:cNvSpPr>
            <a:spLocks noGrp="1"/>
          </p:cNvSpPr>
          <p:nvPr>
            <p:ph type="ftr" sz="quarter" idx="11"/>
          </p:nvPr>
        </p:nvSpPr>
        <p:spPr bwMode="auto"/>
        <p:txBody>
          <a:bodyPr/>
          <a:lstStyle/>
          <a:p>
            <a:pPr>
              <a:defRPr/>
            </a:pPr>
            <a:endParaRPr lang="en-US"/>
          </a:p>
        </p:txBody>
      </p:sp>
      <p:sp>
        <p:nvSpPr>
          <p:cNvPr id="991573967"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Picture with Caption">
    <p:spTree>
      <p:nvGrpSpPr>
        <p:cNvPr id="1" name=""/>
        <p:cNvGrpSpPr/>
        <p:nvPr/>
      </p:nvGrpSpPr>
      <p:grpSpPr bwMode="auto">
        <a:xfrm>
          <a:off x="0" y="0"/>
          <a:ext cx="0" cy="0"/>
          <a:chOff x="0" y="0"/>
          <a:chExt cx="0" cy="0"/>
        </a:xfrm>
      </p:grpSpPr>
      <p:sp>
        <p:nvSpPr>
          <p:cNvPr id="1361007227"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endParaRPr/>
          </a:p>
        </p:txBody>
      </p:sp>
      <p:sp>
        <p:nvSpPr>
          <p:cNvPr id="1369659554"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130210263"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2065458726" name="Date Placeholder 4"/>
          <p:cNvSpPr>
            <a:spLocks noGrp="1"/>
          </p:cNvSpPr>
          <p:nvPr>
            <p:ph type="dt" sz="half" idx="10"/>
          </p:nvPr>
        </p:nvSpPr>
        <p:spPr bwMode="auto"/>
        <p:txBody>
          <a:bodyPr/>
          <a:lstStyle/>
          <a:p>
            <a:pPr>
              <a:defRPr/>
            </a:pPr>
            <a:fld id="{1D8BD707-D9CF-40AE-B4C6-C98DA3205C09}" type="datetimeFigureOut">
              <a:rPr lang="en-US"/>
              <a:t>11/28/2025</a:t>
            </a:fld>
            <a:endParaRPr lang="en-US"/>
          </a:p>
        </p:txBody>
      </p:sp>
      <p:sp>
        <p:nvSpPr>
          <p:cNvPr id="108612968" name="Footer Placeholder 5"/>
          <p:cNvSpPr>
            <a:spLocks noGrp="1"/>
          </p:cNvSpPr>
          <p:nvPr>
            <p:ph type="ftr" sz="quarter" idx="11"/>
          </p:nvPr>
        </p:nvSpPr>
        <p:spPr bwMode="auto"/>
        <p:txBody>
          <a:bodyPr/>
          <a:lstStyle/>
          <a:p>
            <a:pPr>
              <a:defRPr/>
            </a:pPr>
            <a:endParaRPr lang="en-US"/>
          </a:p>
        </p:txBody>
      </p:sp>
      <p:sp>
        <p:nvSpPr>
          <p:cNvPr id="850678635" name="Slide Number Placeholder 6"/>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Title and Vertical Text">
    <p:spTree>
      <p:nvGrpSpPr>
        <p:cNvPr id="1" name=""/>
        <p:cNvGrpSpPr/>
        <p:nvPr/>
      </p:nvGrpSpPr>
      <p:grpSpPr bwMode="auto">
        <a:xfrm>
          <a:off x="0" y="0"/>
          <a:ext cx="0" cy="0"/>
          <a:chOff x="0" y="0"/>
          <a:chExt cx="0" cy="0"/>
        </a:xfrm>
      </p:grpSpPr>
      <p:sp>
        <p:nvSpPr>
          <p:cNvPr id="1226134657" name="Title 1"/>
          <p:cNvSpPr>
            <a:spLocks noGrp="1"/>
          </p:cNvSpPr>
          <p:nvPr>
            <p:ph type="title"/>
          </p:nvPr>
        </p:nvSpPr>
        <p:spPr bwMode="auto"/>
        <p:txBody>
          <a:bodyPr/>
          <a:lstStyle/>
          <a:p>
            <a:pPr>
              <a:defRPr/>
            </a:pPr>
            <a:r>
              <a:rPr lang="en-US"/>
              <a:t>Click to edit Master title style</a:t>
            </a:r>
            <a:endParaRPr/>
          </a:p>
        </p:txBody>
      </p:sp>
      <p:sp>
        <p:nvSpPr>
          <p:cNvPr id="1369552721"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305288976" name="Date Placeholder 3"/>
          <p:cNvSpPr>
            <a:spLocks noGrp="1"/>
          </p:cNvSpPr>
          <p:nvPr>
            <p:ph type="dt" sz="half" idx="10"/>
          </p:nvPr>
        </p:nvSpPr>
        <p:spPr bwMode="auto"/>
        <p:txBody>
          <a:bodyPr/>
          <a:lstStyle/>
          <a:p>
            <a:pPr>
              <a:defRPr/>
            </a:pPr>
            <a:fld id="{1D8BD707-D9CF-40AE-B4C6-C98DA3205C09}" type="datetimeFigureOut">
              <a:rPr lang="en-US"/>
              <a:t>11/28/2025</a:t>
            </a:fld>
            <a:endParaRPr lang="en-US"/>
          </a:p>
        </p:txBody>
      </p:sp>
      <p:sp>
        <p:nvSpPr>
          <p:cNvPr id="574818567" name="Footer Placeholder 4"/>
          <p:cNvSpPr>
            <a:spLocks noGrp="1"/>
          </p:cNvSpPr>
          <p:nvPr>
            <p:ph type="ftr" sz="quarter" idx="11"/>
          </p:nvPr>
        </p:nvSpPr>
        <p:spPr bwMode="auto"/>
        <p:txBody>
          <a:bodyPr/>
          <a:lstStyle/>
          <a:p>
            <a:pPr>
              <a:defRPr/>
            </a:pPr>
            <a:endParaRPr lang="en-US"/>
          </a:p>
        </p:txBody>
      </p:sp>
      <p:sp>
        <p:nvSpPr>
          <p:cNvPr id="452403851"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Vertical Title and Text">
    <p:spTree>
      <p:nvGrpSpPr>
        <p:cNvPr id="1" name=""/>
        <p:cNvGrpSpPr/>
        <p:nvPr/>
      </p:nvGrpSpPr>
      <p:grpSpPr bwMode="auto">
        <a:xfrm>
          <a:off x="0" y="0"/>
          <a:ext cx="0" cy="0"/>
          <a:chOff x="0" y="0"/>
          <a:chExt cx="0" cy="0"/>
        </a:xfrm>
      </p:grpSpPr>
      <p:sp>
        <p:nvSpPr>
          <p:cNvPr id="323322431"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endParaRPr/>
          </a:p>
        </p:txBody>
      </p:sp>
      <p:sp>
        <p:nvSpPr>
          <p:cNvPr id="1080670994"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28058400" name="Date Placeholder 3"/>
          <p:cNvSpPr>
            <a:spLocks noGrp="1"/>
          </p:cNvSpPr>
          <p:nvPr>
            <p:ph type="dt" sz="half" idx="10"/>
          </p:nvPr>
        </p:nvSpPr>
        <p:spPr bwMode="auto"/>
        <p:txBody>
          <a:bodyPr/>
          <a:lstStyle/>
          <a:p>
            <a:pPr>
              <a:defRPr/>
            </a:pPr>
            <a:fld id="{1D8BD707-D9CF-40AE-B4C6-C98DA3205C09}" type="datetimeFigureOut">
              <a:rPr lang="en-US"/>
              <a:t>11/28/2025</a:t>
            </a:fld>
            <a:endParaRPr lang="en-US"/>
          </a:p>
        </p:txBody>
      </p:sp>
      <p:sp>
        <p:nvSpPr>
          <p:cNvPr id="188758893" name="Footer Placeholder 4"/>
          <p:cNvSpPr>
            <a:spLocks noGrp="1"/>
          </p:cNvSpPr>
          <p:nvPr>
            <p:ph type="ftr" sz="quarter" idx="11"/>
          </p:nvPr>
        </p:nvSpPr>
        <p:spPr bwMode="auto"/>
        <p:txBody>
          <a:bodyPr/>
          <a:lstStyle/>
          <a:p>
            <a:pPr>
              <a:defRPr/>
            </a:pPr>
            <a:endParaRPr lang="en-US"/>
          </a:p>
        </p:txBody>
      </p:sp>
      <p:sp>
        <p:nvSpPr>
          <p:cNvPr id="1665420156" name="Slide Number Placeholder 5"/>
          <p:cNvSpPr>
            <a:spLocks noGrp="1"/>
          </p:cNvSpPr>
          <p:nvPr>
            <p:ph type="sldNum" sz="quarter" idx="12"/>
          </p:nvPr>
        </p:nvSpPr>
        <p:spPr bwMode="auto"/>
        <p:txBody>
          <a:bodyPr/>
          <a:lstStyle/>
          <a:p>
            <a:pPr>
              <a:defRPr/>
            </a:pPr>
            <a:fld id="{B6F15528-21DE-4FAA-801E-634DDDAF4B2B}"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931365792"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1069811985"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059941537"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1D8BD707-D9CF-40AE-B4C6-C98DA3205C09}" type="datetimeFigureOut">
              <a:rPr lang="en-US"/>
              <a:t>11/28/2025</a:t>
            </a:fld>
            <a:endParaRPr lang="en-US"/>
          </a:p>
        </p:txBody>
      </p:sp>
      <p:sp>
        <p:nvSpPr>
          <p:cNvPr id="732727285"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2022835985"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B6F15528-21DE-4FAA-801E-634DDDAF4B2B}"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 Id="rId9" Type="http://schemas.openxmlformats.org/officeDocument/2006/relationships/image" Target="../media/image7.png"/><Relationship Id="rId10" Type="http://schemas.openxmlformats.org/officeDocument/2006/relationships/image" Target="../media/image8.png"/><Relationship Id="rId11" Type="http://schemas.openxmlformats.org/officeDocument/2006/relationships/image" Target="../media/image9.png"/><Relationship Id="rId12" Type="http://schemas.openxmlformats.org/officeDocument/2006/relationships/image" Target="../media/image10.png"/><Relationship Id="rId13" Type="http://schemas.openxmlformats.org/officeDocument/2006/relationships/image" Target="../media/image11.png"/><Relationship Id="rId14" Type="http://schemas.openxmlformats.org/officeDocument/2006/relationships/image" Target="../media/image12.png"/><Relationship Id="rId15" Type="http://schemas.openxmlformats.org/officeDocument/2006/relationships/image" Target="../media/image13.png"/><Relationship Id="rId16" Type="http://schemas.openxmlformats.org/officeDocument/2006/relationships/image" Target="../media/image14.png"/><Relationship Id="rId17" Type="http://schemas.openxmlformats.org/officeDocument/2006/relationships/image" Target="../media/image15.png"/><Relationship Id="rId18" Type="http://schemas.openxmlformats.org/officeDocument/2006/relationships/image" Target="../media/image16.png"/><Relationship Id="rId19" Type="http://schemas.openxmlformats.org/officeDocument/2006/relationships/image" Target="../media/image17.png"/><Relationship Id="rId20" Type="http://schemas.openxmlformats.org/officeDocument/2006/relationships/image" Target="../media/image18.png"/><Relationship Id="rId21" Type="http://schemas.openxmlformats.org/officeDocument/2006/relationships/image" Target="../media/image19.png"/><Relationship Id="rId22" Type="http://schemas.openxmlformats.org/officeDocument/2006/relationships/image" Target="../media/image20.png"/><Relationship Id="rId23" Type="http://schemas.openxmlformats.org/officeDocument/2006/relationships/image" Target="../media/image21.png"/><Relationship Id="rId24" Type="http://schemas.openxmlformats.org/officeDocument/2006/relationships/image" Target="../media/image22.png"/><Relationship Id="rId25" Type="http://schemas.openxmlformats.org/officeDocument/2006/relationships/image" Target="../media/image23.png"/><Relationship Id="rId26" Type="http://schemas.openxmlformats.org/officeDocument/2006/relationships/image" Target="../media/image24.png"/><Relationship Id="rId27" Type="http://schemas.openxmlformats.org/officeDocument/2006/relationships/image" Target="../media/image25.png"/><Relationship Id="rId28" Type="http://schemas.openxmlformats.org/officeDocument/2006/relationships/image" Target="../media/image26.png"/><Relationship Id="rId29" Type="http://schemas.openxmlformats.org/officeDocument/2006/relationships/image" Target="../media/image27.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971176816" name="Group 2"/>
          <p:cNvGrpSpPr/>
          <p:nvPr/>
        </p:nvGrpSpPr>
        <p:grpSpPr bwMode="auto">
          <a:xfrm>
            <a:off x="0" y="-42216"/>
            <a:ext cx="18288000" cy="11009510"/>
            <a:chOff x="0" y="0"/>
            <a:chExt cx="18288000" cy="11009510"/>
          </a:xfrm>
        </p:grpSpPr>
        <p:sp>
          <p:nvSpPr>
            <p:cNvPr id="3" name="Freeform 3"/>
            <p:cNvSpPr/>
            <p:nvPr/>
          </p:nvSpPr>
          <p:spPr bwMode="auto">
            <a:xfrm>
              <a:off x="14630400" y="735191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4" name="Freeform 4"/>
            <p:cNvSpPr/>
            <p:nvPr/>
          </p:nvSpPr>
          <p:spPr bwMode="auto">
            <a:xfrm>
              <a:off x="0" y="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5" name="Freeform 5"/>
            <p:cNvSpPr/>
            <p:nvPr/>
          </p:nvSpPr>
          <p:spPr bwMode="auto">
            <a:xfrm>
              <a:off x="0" y="73152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6" name="Freeform 6"/>
            <p:cNvSpPr/>
            <p:nvPr/>
          </p:nvSpPr>
          <p:spPr bwMode="auto">
            <a:xfrm>
              <a:off x="0" y="3663105"/>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17000"/>
              </a:blip>
              <a:stretch/>
            </a:blipFill>
          </p:spPr>
          <p:txBody>
            <a:bodyPr anchor="ctr"/>
            <a:p>
              <a:pPr algn="ctr">
                <a:defRPr/>
              </a:pPr>
              <a:endParaRPr/>
            </a:p>
          </p:txBody>
        </p:sp>
        <p:sp>
          <p:nvSpPr>
            <p:cNvPr id="7" name="Freeform 7"/>
            <p:cNvSpPr/>
            <p:nvPr/>
          </p:nvSpPr>
          <p:spPr bwMode="auto">
            <a:xfrm>
              <a:off x="7315200" y="3671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8" name="Freeform 8"/>
            <p:cNvSpPr/>
            <p:nvPr/>
          </p:nvSpPr>
          <p:spPr bwMode="auto">
            <a:xfrm>
              <a:off x="7315200" y="735191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9" name="Freeform 9"/>
            <p:cNvSpPr/>
            <p:nvPr/>
          </p:nvSpPr>
          <p:spPr bwMode="auto">
            <a:xfrm>
              <a:off x="7315200" y="3699816"/>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0" name="Freeform 10"/>
            <p:cNvSpPr/>
            <p:nvPr/>
          </p:nvSpPr>
          <p:spPr bwMode="auto">
            <a:xfrm>
              <a:off x="14630400" y="3671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1" name="Freeform 11"/>
            <p:cNvSpPr/>
            <p:nvPr/>
          </p:nvSpPr>
          <p:spPr bwMode="auto">
            <a:xfrm>
              <a:off x="14630400" y="369431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17000"/>
              </a:blip>
              <a:stretch/>
            </a:blipFill>
          </p:spPr>
        </p:sp>
        <p:sp>
          <p:nvSpPr>
            <p:cNvPr id="12" name="Freeform 12"/>
            <p:cNvSpPr/>
            <p:nvPr/>
          </p:nvSpPr>
          <p:spPr bwMode="auto">
            <a:xfrm>
              <a:off x="3710516" y="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3" name="Freeform 13"/>
            <p:cNvSpPr/>
            <p:nvPr/>
          </p:nvSpPr>
          <p:spPr bwMode="auto">
            <a:xfrm>
              <a:off x="3657600" y="735191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4" name="Freeform 14"/>
            <p:cNvSpPr/>
            <p:nvPr/>
          </p:nvSpPr>
          <p:spPr bwMode="auto">
            <a:xfrm>
              <a:off x="3657599" y="36576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5" name="Freeform 15"/>
            <p:cNvSpPr/>
            <p:nvPr/>
          </p:nvSpPr>
          <p:spPr bwMode="auto">
            <a:xfrm>
              <a:off x="10972799" y="3671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6" name="Freeform 16"/>
            <p:cNvSpPr/>
            <p:nvPr/>
          </p:nvSpPr>
          <p:spPr bwMode="auto">
            <a:xfrm>
              <a:off x="10972799" y="735191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7" name="Freeform 17"/>
            <p:cNvSpPr/>
            <p:nvPr/>
          </p:nvSpPr>
          <p:spPr bwMode="auto">
            <a:xfrm>
              <a:off x="10972799" y="369431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grpSp>
      <p:grpSp>
        <p:nvGrpSpPr>
          <p:cNvPr id="1952667255" name="Group 18"/>
          <p:cNvGrpSpPr/>
          <p:nvPr/>
        </p:nvGrpSpPr>
        <p:grpSpPr bwMode="auto">
          <a:xfrm rot="147226">
            <a:off x="9075240" y="3286548"/>
            <a:ext cx="8731213" cy="4123403"/>
            <a:chOff x="0" y="0"/>
            <a:chExt cx="8731213" cy="4123403"/>
          </a:xfrm>
        </p:grpSpPr>
        <p:sp>
          <p:nvSpPr>
            <p:cNvPr id="19" name="Freeform 19"/>
            <p:cNvSpPr/>
            <p:nvPr/>
          </p:nvSpPr>
          <p:spPr bwMode="auto">
            <a:xfrm>
              <a:off x="990317" y="484063"/>
              <a:ext cx="1000111" cy="1297139"/>
            </a:xfrm>
            <a:custGeom>
              <a:avLst/>
              <a:gdLst/>
              <a:ahLst/>
              <a:cxnLst/>
              <a:rect l="l" t="t" r="r" b="b"/>
              <a:pathLst>
                <a:path w="1333482" h="1729520" fill="norm" stroke="1" extrusionOk="0">
                  <a:moveTo>
                    <a:pt x="0" y="0"/>
                  </a:moveTo>
                  <a:lnTo>
                    <a:pt x="1333481" y="0"/>
                  </a:lnTo>
                  <a:lnTo>
                    <a:pt x="1333481" y="1729520"/>
                  </a:lnTo>
                  <a:lnTo>
                    <a:pt x="0" y="1729520"/>
                  </a:lnTo>
                  <a:lnTo>
                    <a:pt x="0" y="0"/>
                  </a:lnTo>
                  <a:close/>
                </a:path>
              </a:pathLst>
            </a:custGeom>
            <a:blipFill>
              <a:blip r:embed="rId5"/>
              <a:stretch/>
            </a:blipFill>
          </p:spPr>
        </p:sp>
        <p:sp>
          <p:nvSpPr>
            <p:cNvPr id="20" name="Freeform 20"/>
            <p:cNvSpPr/>
            <p:nvPr/>
          </p:nvSpPr>
          <p:spPr bwMode="auto">
            <a:xfrm>
              <a:off x="1990429" y="873907"/>
              <a:ext cx="646132" cy="834748"/>
            </a:xfrm>
            <a:custGeom>
              <a:avLst/>
              <a:gdLst/>
              <a:ahLst/>
              <a:cxnLst/>
              <a:rect l="l" t="t" r="r" b="b"/>
              <a:pathLst>
                <a:path w="861510" h="1112998" fill="norm" stroke="1" extrusionOk="0">
                  <a:moveTo>
                    <a:pt x="0" y="0"/>
                  </a:moveTo>
                  <a:lnTo>
                    <a:pt x="861511" y="0"/>
                  </a:lnTo>
                  <a:lnTo>
                    <a:pt x="861511" y="1112998"/>
                  </a:lnTo>
                  <a:lnTo>
                    <a:pt x="0" y="1112998"/>
                  </a:lnTo>
                  <a:lnTo>
                    <a:pt x="0" y="0"/>
                  </a:lnTo>
                  <a:close/>
                </a:path>
              </a:pathLst>
            </a:custGeom>
            <a:blipFill>
              <a:blip r:embed="rId6"/>
              <a:stretch/>
            </a:blipFill>
          </p:spPr>
        </p:sp>
        <p:sp>
          <p:nvSpPr>
            <p:cNvPr id="21" name="Freeform 21"/>
            <p:cNvSpPr/>
            <p:nvPr/>
          </p:nvSpPr>
          <p:spPr bwMode="auto">
            <a:xfrm>
              <a:off x="2636562" y="774253"/>
              <a:ext cx="793876" cy="934403"/>
            </a:xfrm>
            <a:custGeom>
              <a:avLst/>
              <a:gdLst/>
              <a:ahLst/>
              <a:cxnLst/>
              <a:rect l="l" t="t" r="r" b="b"/>
              <a:pathLst>
                <a:path w="1058502" h="1245871" fill="norm" stroke="1" extrusionOk="0">
                  <a:moveTo>
                    <a:pt x="0" y="0"/>
                  </a:moveTo>
                  <a:lnTo>
                    <a:pt x="1058502" y="0"/>
                  </a:lnTo>
                  <a:lnTo>
                    <a:pt x="1058502" y="1245871"/>
                  </a:lnTo>
                  <a:lnTo>
                    <a:pt x="0" y="1245871"/>
                  </a:lnTo>
                  <a:lnTo>
                    <a:pt x="0" y="0"/>
                  </a:lnTo>
                  <a:close/>
                </a:path>
              </a:pathLst>
            </a:custGeom>
            <a:blipFill>
              <a:blip r:embed="rId7"/>
              <a:stretch/>
            </a:blipFill>
          </p:spPr>
        </p:sp>
        <p:sp>
          <p:nvSpPr>
            <p:cNvPr id="22" name="Freeform 22"/>
            <p:cNvSpPr/>
            <p:nvPr/>
          </p:nvSpPr>
          <p:spPr bwMode="auto">
            <a:xfrm>
              <a:off x="3323826" y="484063"/>
              <a:ext cx="759841" cy="1224592"/>
            </a:xfrm>
            <a:custGeom>
              <a:avLst/>
              <a:gdLst/>
              <a:ahLst/>
              <a:cxnLst/>
              <a:rect l="l" t="t" r="r" b="b"/>
              <a:pathLst>
                <a:path w="1013123" h="1632790" fill="norm" stroke="1" extrusionOk="0">
                  <a:moveTo>
                    <a:pt x="0" y="0"/>
                  </a:moveTo>
                  <a:lnTo>
                    <a:pt x="1013124" y="0"/>
                  </a:lnTo>
                  <a:lnTo>
                    <a:pt x="1013124" y="1632790"/>
                  </a:lnTo>
                  <a:lnTo>
                    <a:pt x="0" y="1632790"/>
                  </a:lnTo>
                  <a:lnTo>
                    <a:pt x="0" y="0"/>
                  </a:lnTo>
                  <a:close/>
                </a:path>
              </a:pathLst>
            </a:custGeom>
            <a:blipFill>
              <a:blip r:embed="rId8"/>
              <a:stretch/>
            </a:blipFill>
          </p:spPr>
        </p:sp>
        <p:sp>
          <p:nvSpPr>
            <p:cNvPr id="23" name="Freeform 23"/>
            <p:cNvSpPr/>
            <p:nvPr/>
          </p:nvSpPr>
          <p:spPr bwMode="auto">
            <a:xfrm>
              <a:off x="4083669" y="629159"/>
              <a:ext cx="791989" cy="1079498"/>
            </a:xfrm>
            <a:custGeom>
              <a:avLst/>
              <a:gdLst/>
              <a:ahLst/>
              <a:cxnLst/>
              <a:rect l="l" t="t" r="r" b="b"/>
              <a:pathLst>
                <a:path w="1055986" h="1439331" fill="norm" stroke="1" extrusionOk="0">
                  <a:moveTo>
                    <a:pt x="0" y="0"/>
                  </a:moveTo>
                  <a:lnTo>
                    <a:pt x="1055986" y="0"/>
                  </a:lnTo>
                  <a:lnTo>
                    <a:pt x="1055986" y="1439330"/>
                  </a:lnTo>
                  <a:lnTo>
                    <a:pt x="0" y="1439330"/>
                  </a:lnTo>
                  <a:lnTo>
                    <a:pt x="0" y="0"/>
                  </a:lnTo>
                  <a:close/>
                </a:path>
              </a:pathLst>
            </a:custGeom>
            <a:blipFill>
              <a:blip r:embed="rId9"/>
              <a:stretch/>
            </a:blipFill>
          </p:spPr>
        </p:sp>
        <p:sp>
          <p:nvSpPr>
            <p:cNvPr id="24" name="Freeform 24"/>
            <p:cNvSpPr/>
            <p:nvPr/>
          </p:nvSpPr>
          <p:spPr bwMode="auto">
            <a:xfrm>
              <a:off x="4729087" y="845980"/>
              <a:ext cx="730808" cy="890602"/>
            </a:xfrm>
            <a:custGeom>
              <a:avLst/>
              <a:gdLst/>
              <a:ahLst/>
              <a:cxnLst/>
              <a:rect l="l" t="t" r="r" b="b"/>
              <a:pathLst>
                <a:path w="974412" h="1187470" fill="norm" stroke="1" extrusionOk="0">
                  <a:moveTo>
                    <a:pt x="0" y="0"/>
                  </a:moveTo>
                  <a:lnTo>
                    <a:pt x="974413" y="0"/>
                  </a:lnTo>
                  <a:lnTo>
                    <a:pt x="974413" y="1187470"/>
                  </a:lnTo>
                  <a:lnTo>
                    <a:pt x="0" y="1187470"/>
                  </a:lnTo>
                  <a:lnTo>
                    <a:pt x="0" y="0"/>
                  </a:lnTo>
                  <a:close/>
                </a:path>
              </a:pathLst>
            </a:custGeom>
            <a:blipFill>
              <a:blip r:embed="rId10"/>
              <a:stretch/>
            </a:blipFill>
          </p:spPr>
        </p:sp>
        <p:sp>
          <p:nvSpPr>
            <p:cNvPr id="25" name="Freeform 25"/>
            <p:cNvSpPr/>
            <p:nvPr/>
          </p:nvSpPr>
          <p:spPr bwMode="auto">
            <a:xfrm>
              <a:off x="5185716" y="0"/>
              <a:ext cx="754846" cy="1781204"/>
            </a:xfrm>
            <a:custGeom>
              <a:avLst/>
              <a:gdLst/>
              <a:ahLst/>
              <a:cxnLst/>
              <a:rect l="l" t="t" r="r" b="b"/>
              <a:pathLst>
                <a:path w="1006462" h="2374939" fill="norm" stroke="1" extrusionOk="0">
                  <a:moveTo>
                    <a:pt x="0" y="0"/>
                  </a:moveTo>
                  <a:lnTo>
                    <a:pt x="1006463" y="0"/>
                  </a:lnTo>
                  <a:lnTo>
                    <a:pt x="1006463" y="2374939"/>
                  </a:lnTo>
                  <a:lnTo>
                    <a:pt x="0" y="2374939"/>
                  </a:lnTo>
                  <a:lnTo>
                    <a:pt x="0" y="0"/>
                  </a:lnTo>
                  <a:close/>
                </a:path>
              </a:pathLst>
            </a:custGeom>
            <a:blipFill>
              <a:blip r:embed="rId11"/>
              <a:stretch/>
            </a:blipFill>
          </p:spPr>
        </p:sp>
        <p:sp>
          <p:nvSpPr>
            <p:cNvPr id="26" name="Freeform 26"/>
            <p:cNvSpPr/>
            <p:nvPr/>
          </p:nvSpPr>
          <p:spPr bwMode="auto">
            <a:xfrm rot="-147226">
              <a:off x="2290396" y="1741831"/>
              <a:ext cx="633453" cy="938947"/>
            </a:xfrm>
            <a:custGeom>
              <a:avLst/>
              <a:gdLst/>
              <a:ahLst/>
              <a:cxnLst/>
              <a:rect l="l" t="t" r="r" b="b"/>
              <a:pathLst>
                <a:path w="844605" h="1251932" fill="norm" stroke="1" extrusionOk="0">
                  <a:moveTo>
                    <a:pt x="0" y="0"/>
                  </a:moveTo>
                  <a:lnTo>
                    <a:pt x="844605" y="0"/>
                  </a:lnTo>
                  <a:lnTo>
                    <a:pt x="844605" y="1251932"/>
                  </a:lnTo>
                  <a:lnTo>
                    <a:pt x="0" y="1251932"/>
                  </a:lnTo>
                  <a:lnTo>
                    <a:pt x="0" y="0"/>
                  </a:lnTo>
                  <a:close/>
                </a:path>
              </a:pathLst>
            </a:custGeom>
            <a:blipFill>
              <a:blip r:embed="rId12"/>
              <a:stretch/>
            </a:blipFill>
          </p:spPr>
        </p:sp>
        <p:sp>
          <p:nvSpPr>
            <p:cNvPr id="27" name="Freeform 27"/>
            <p:cNvSpPr/>
            <p:nvPr/>
          </p:nvSpPr>
          <p:spPr bwMode="auto">
            <a:xfrm rot="-147226">
              <a:off x="2927042" y="1966456"/>
              <a:ext cx="521649" cy="613988"/>
            </a:xfrm>
            <a:custGeom>
              <a:avLst/>
              <a:gdLst/>
              <a:ahLst/>
              <a:cxnLst/>
              <a:rect l="l" t="t" r="r" b="b"/>
              <a:pathLst>
                <a:path w="695533" h="818652" fill="norm" stroke="1" extrusionOk="0">
                  <a:moveTo>
                    <a:pt x="0" y="0"/>
                  </a:moveTo>
                  <a:lnTo>
                    <a:pt x="695533" y="0"/>
                  </a:lnTo>
                  <a:lnTo>
                    <a:pt x="695533" y="818652"/>
                  </a:lnTo>
                  <a:lnTo>
                    <a:pt x="0" y="818652"/>
                  </a:lnTo>
                  <a:lnTo>
                    <a:pt x="0" y="0"/>
                  </a:lnTo>
                  <a:close/>
                </a:path>
              </a:pathLst>
            </a:custGeom>
            <a:blipFill>
              <a:blip r:embed="rId13"/>
              <a:stretch/>
            </a:blipFill>
          </p:spPr>
        </p:sp>
        <p:sp>
          <p:nvSpPr>
            <p:cNvPr id="28" name="Freeform 28"/>
            <p:cNvSpPr/>
            <p:nvPr/>
          </p:nvSpPr>
          <p:spPr bwMode="auto">
            <a:xfrm rot="-147226">
              <a:off x="3445186" y="1802733"/>
              <a:ext cx="627393" cy="753179"/>
            </a:xfrm>
            <a:custGeom>
              <a:avLst/>
              <a:gdLst/>
              <a:ahLst/>
              <a:cxnLst/>
              <a:rect l="l" t="t" r="r" b="b"/>
              <a:pathLst>
                <a:path w="836525" h="1004239" fill="norm" stroke="1" extrusionOk="0">
                  <a:moveTo>
                    <a:pt x="0" y="0"/>
                  </a:moveTo>
                  <a:lnTo>
                    <a:pt x="836525" y="0"/>
                  </a:lnTo>
                  <a:lnTo>
                    <a:pt x="836525" y="1004239"/>
                  </a:lnTo>
                  <a:lnTo>
                    <a:pt x="0" y="1004239"/>
                  </a:lnTo>
                  <a:lnTo>
                    <a:pt x="0" y="0"/>
                  </a:lnTo>
                  <a:close/>
                </a:path>
              </a:pathLst>
            </a:custGeom>
            <a:blipFill>
              <a:blip r:embed="rId14"/>
              <a:stretch/>
            </a:blipFill>
          </p:spPr>
        </p:sp>
        <p:sp>
          <p:nvSpPr>
            <p:cNvPr id="29" name="Freeform 29"/>
            <p:cNvSpPr/>
            <p:nvPr/>
          </p:nvSpPr>
          <p:spPr bwMode="auto">
            <a:xfrm rot="-147226">
              <a:off x="4072158" y="1783080"/>
              <a:ext cx="290691" cy="753179"/>
            </a:xfrm>
            <a:custGeom>
              <a:avLst/>
              <a:gdLst/>
              <a:ahLst/>
              <a:cxnLst/>
              <a:rect l="l" t="t" r="r" b="b"/>
              <a:pathLst>
                <a:path w="387589" h="1004239" fill="norm" stroke="1" extrusionOk="0">
                  <a:moveTo>
                    <a:pt x="0" y="0"/>
                  </a:moveTo>
                  <a:lnTo>
                    <a:pt x="387589" y="0"/>
                  </a:lnTo>
                  <a:lnTo>
                    <a:pt x="387589" y="1004239"/>
                  </a:lnTo>
                  <a:lnTo>
                    <a:pt x="0" y="1004239"/>
                  </a:lnTo>
                  <a:lnTo>
                    <a:pt x="0" y="0"/>
                  </a:lnTo>
                  <a:close/>
                </a:path>
              </a:pathLst>
            </a:custGeom>
            <a:blipFill>
              <a:blip r:embed="rId15"/>
              <a:stretch/>
            </a:blipFill>
          </p:spPr>
        </p:sp>
        <p:sp>
          <p:nvSpPr>
            <p:cNvPr id="30" name="Freeform 30"/>
            <p:cNvSpPr/>
            <p:nvPr/>
          </p:nvSpPr>
          <p:spPr bwMode="auto">
            <a:xfrm rot="-147226">
              <a:off x="4395556" y="1903909"/>
              <a:ext cx="503825" cy="613988"/>
            </a:xfrm>
            <a:custGeom>
              <a:avLst/>
              <a:gdLst/>
              <a:ahLst/>
              <a:cxnLst/>
              <a:rect l="l" t="t" r="r" b="b"/>
              <a:pathLst>
                <a:path w="671768" h="818652" fill="norm" stroke="1" extrusionOk="0">
                  <a:moveTo>
                    <a:pt x="0" y="0"/>
                  </a:moveTo>
                  <a:lnTo>
                    <a:pt x="671768" y="0"/>
                  </a:lnTo>
                  <a:lnTo>
                    <a:pt x="671768" y="818652"/>
                  </a:lnTo>
                  <a:lnTo>
                    <a:pt x="0" y="818652"/>
                  </a:lnTo>
                  <a:lnTo>
                    <a:pt x="0" y="0"/>
                  </a:lnTo>
                  <a:close/>
                </a:path>
              </a:pathLst>
            </a:custGeom>
            <a:blipFill>
              <a:blip r:embed="rId16"/>
              <a:stretch/>
            </a:blipFill>
          </p:spPr>
        </p:sp>
        <p:sp>
          <p:nvSpPr>
            <p:cNvPr id="31" name="TextBox 31"/>
            <p:cNvSpPr txBox="1"/>
            <p:nvPr/>
          </p:nvSpPr>
          <p:spPr bwMode="auto">
            <a:xfrm rot="-147226">
              <a:off x="6795626" y="3799193"/>
              <a:ext cx="1505767" cy="324209"/>
            </a:xfrm>
            <a:prstGeom prst="rect">
              <a:avLst/>
            </a:prstGeom>
            <a:grpFill/>
          </p:spPr>
          <p:txBody>
            <a:bodyPr lIns="0" tIns="0" rIns="0" bIns="0" rtlCol="0" anchor="t">
              <a:spAutoFit/>
            </a:bodyPr>
            <a:lstStyle/>
            <a:p>
              <a:pPr algn="ctr">
                <a:lnSpc>
                  <a:spcPts val="2550"/>
                </a:lnSpc>
                <a:defRPr/>
              </a:pPr>
              <a:r>
                <a:rPr lang="en-US" sz="3900" spc="-196">
                  <a:solidFill>
                    <a:srgbClr val="000000"/>
                  </a:solidFill>
                  <a:latin typeface="Caveat"/>
                  <a:ea typeface="Caveat"/>
                  <a:cs typeface="Caveat"/>
                </a:rPr>
                <a:t>3.0</a:t>
              </a:r>
              <a:endParaRPr/>
            </a:p>
          </p:txBody>
        </p:sp>
        <p:sp>
          <p:nvSpPr>
            <p:cNvPr id="32" name="Freeform 32"/>
            <p:cNvSpPr/>
            <p:nvPr/>
          </p:nvSpPr>
          <p:spPr bwMode="auto">
            <a:xfrm rot="-147226">
              <a:off x="0" y="2813329"/>
              <a:ext cx="1068979" cy="1175029"/>
            </a:xfrm>
            <a:custGeom>
              <a:avLst/>
              <a:gdLst/>
              <a:ahLst/>
              <a:cxnLst/>
              <a:rect l="l" t="t" r="r" b="b"/>
              <a:pathLst>
                <a:path w="1425306" h="1566706" fill="norm" stroke="1" extrusionOk="0">
                  <a:moveTo>
                    <a:pt x="0" y="0"/>
                  </a:moveTo>
                  <a:lnTo>
                    <a:pt x="1425306" y="0"/>
                  </a:lnTo>
                  <a:lnTo>
                    <a:pt x="1425306" y="1566706"/>
                  </a:lnTo>
                  <a:lnTo>
                    <a:pt x="0" y="1566706"/>
                  </a:lnTo>
                  <a:lnTo>
                    <a:pt x="0" y="0"/>
                  </a:lnTo>
                  <a:close/>
                </a:path>
              </a:pathLst>
            </a:custGeom>
            <a:blipFill>
              <a:blip r:embed="rId17"/>
              <a:stretch/>
            </a:blipFill>
          </p:spPr>
        </p:sp>
        <p:sp>
          <p:nvSpPr>
            <p:cNvPr id="33" name="Freeform 33"/>
            <p:cNvSpPr/>
            <p:nvPr/>
          </p:nvSpPr>
          <p:spPr bwMode="auto">
            <a:xfrm rot="-147226">
              <a:off x="930283" y="3138510"/>
              <a:ext cx="671771" cy="818656"/>
            </a:xfrm>
            <a:custGeom>
              <a:avLst/>
              <a:gdLst/>
              <a:ahLst/>
              <a:cxnLst/>
              <a:rect l="l" t="t" r="r" b="b"/>
              <a:pathLst>
                <a:path w="895696" h="1091542" fill="norm" stroke="1" extrusionOk="0">
                  <a:moveTo>
                    <a:pt x="0" y="0"/>
                  </a:moveTo>
                  <a:lnTo>
                    <a:pt x="895696" y="0"/>
                  </a:lnTo>
                  <a:lnTo>
                    <a:pt x="895696" y="1091542"/>
                  </a:lnTo>
                  <a:lnTo>
                    <a:pt x="0" y="1091542"/>
                  </a:lnTo>
                  <a:lnTo>
                    <a:pt x="0" y="0"/>
                  </a:lnTo>
                  <a:close/>
                </a:path>
              </a:pathLst>
            </a:custGeom>
            <a:blipFill>
              <a:blip r:embed="rId18"/>
              <a:stretch/>
            </a:blipFill>
          </p:spPr>
        </p:sp>
        <p:sp>
          <p:nvSpPr>
            <p:cNvPr id="34" name="Freeform 34"/>
            <p:cNvSpPr/>
            <p:nvPr/>
          </p:nvSpPr>
          <p:spPr bwMode="auto">
            <a:xfrm rot="-147226">
              <a:off x="1602985" y="3181892"/>
              <a:ext cx="685866" cy="746178"/>
            </a:xfrm>
            <a:custGeom>
              <a:avLst/>
              <a:gdLst/>
              <a:ahLst/>
              <a:cxnLst/>
              <a:rect l="l" t="t" r="r" b="b"/>
              <a:pathLst>
                <a:path w="914489" h="994905" fill="norm" stroke="1" extrusionOk="0">
                  <a:moveTo>
                    <a:pt x="0" y="0"/>
                  </a:moveTo>
                  <a:lnTo>
                    <a:pt x="914489" y="0"/>
                  </a:lnTo>
                  <a:lnTo>
                    <a:pt x="914489" y="994905"/>
                  </a:lnTo>
                  <a:lnTo>
                    <a:pt x="0" y="994905"/>
                  </a:lnTo>
                  <a:lnTo>
                    <a:pt x="0" y="0"/>
                  </a:lnTo>
                  <a:close/>
                </a:path>
              </a:pathLst>
            </a:custGeom>
            <a:blipFill>
              <a:blip r:embed="rId19"/>
              <a:stretch/>
            </a:blipFill>
          </p:spPr>
        </p:sp>
        <p:sp>
          <p:nvSpPr>
            <p:cNvPr id="35" name="Freeform 35"/>
            <p:cNvSpPr/>
            <p:nvPr/>
          </p:nvSpPr>
          <p:spPr bwMode="auto">
            <a:xfrm rot="-147226">
              <a:off x="2278021" y="2676189"/>
              <a:ext cx="918654" cy="1217751"/>
            </a:xfrm>
            <a:custGeom>
              <a:avLst/>
              <a:gdLst/>
              <a:ahLst/>
              <a:cxnLst/>
              <a:rect l="l" t="t" r="r" b="b"/>
              <a:pathLst>
                <a:path w="1224873" h="1623669" fill="norm" stroke="1" extrusionOk="0">
                  <a:moveTo>
                    <a:pt x="0" y="0"/>
                  </a:moveTo>
                  <a:lnTo>
                    <a:pt x="1224873" y="0"/>
                  </a:lnTo>
                  <a:lnTo>
                    <a:pt x="1224873" y="1623668"/>
                  </a:lnTo>
                  <a:lnTo>
                    <a:pt x="0" y="1623668"/>
                  </a:lnTo>
                  <a:lnTo>
                    <a:pt x="0" y="0"/>
                  </a:lnTo>
                  <a:close/>
                </a:path>
              </a:pathLst>
            </a:custGeom>
            <a:blipFill>
              <a:blip r:embed="rId20"/>
              <a:stretch/>
            </a:blipFill>
          </p:spPr>
        </p:sp>
        <p:sp>
          <p:nvSpPr>
            <p:cNvPr id="36" name="Freeform 36"/>
            <p:cNvSpPr/>
            <p:nvPr/>
          </p:nvSpPr>
          <p:spPr bwMode="auto">
            <a:xfrm rot="-147226">
              <a:off x="3204490" y="3041055"/>
              <a:ext cx="671771" cy="818656"/>
            </a:xfrm>
            <a:custGeom>
              <a:avLst/>
              <a:gdLst/>
              <a:ahLst/>
              <a:cxnLst/>
              <a:rect l="l" t="t" r="r" b="b"/>
              <a:pathLst>
                <a:path w="895696" h="1091542" fill="norm" stroke="1" extrusionOk="0">
                  <a:moveTo>
                    <a:pt x="0" y="0"/>
                  </a:moveTo>
                  <a:lnTo>
                    <a:pt x="895696" y="0"/>
                  </a:lnTo>
                  <a:lnTo>
                    <a:pt x="895696" y="1091542"/>
                  </a:lnTo>
                  <a:lnTo>
                    <a:pt x="0" y="1091542"/>
                  </a:lnTo>
                  <a:lnTo>
                    <a:pt x="0" y="0"/>
                  </a:lnTo>
                  <a:close/>
                </a:path>
              </a:pathLst>
            </a:custGeom>
            <a:blipFill>
              <a:blip r:embed="rId18"/>
              <a:stretch/>
            </a:blipFill>
          </p:spPr>
        </p:sp>
        <p:sp>
          <p:nvSpPr>
            <p:cNvPr id="37" name="Freeform 37"/>
            <p:cNvSpPr/>
            <p:nvPr/>
          </p:nvSpPr>
          <p:spPr bwMode="auto">
            <a:xfrm rot="-147226">
              <a:off x="3868045" y="2755238"/>
              <a:ext cx="607743" cy="979463"/>
            </a:xfrm>
            <a:custGeom>
              <a:avLst/>
              <a:gdLst/>
              <a:ahLst/>
              <a:cxnLst/>
              <a:rect l="l" t="t" r="r" b="b"/>
              <a:pathLst>
                <a:path w="810325" h="1305952" fill="norm" stroke="1" extrusionOk="0">
                  <a:moveTo>
                    <a:pt x="0" y="0"/>
                  </a:moveTo>
                  <a:lnTo>
                    <a:pt x="810325" y="0"/>
                  </a:lnTo>
                  <a:lnTo>
                    <a:pt x="810325" y="1305953"/>
                  </a:lnTo>
                  <a:lnTo>
                    <a:pt x="0" y="1305953"/>
                  </a:lnTo>
                  <a:lnTo>
                    <a:pt x="0" y="0"/>
                  </a:lnTo>
                  <a:close/>
                </a:path>
              </a:pathLst>
            </a:custGeom>
            <a:blipFill>
              <a:blip r:embed="rId21"/>
              <a:stretch/>
            </a:blipFill>
          </p:spPr>
        </p:sp>
        <p:sp>
          <p:nvSpPr>
            <p:cNvPr id="38" name="Freeform 38"/>
            <p:cNvSpPr/>
            <p:nvPr/>
          </p:nvSpPr>
          <p:spPr bwMode="auto">
            <a:xfrm rot="-147226">
              <a:off x="4477226" y="2724485"/>
              <a:ext cx="826740" cy="1077246"/>
            </a:xfrm>
            <a:custGeom>
              <a:avLst/>
              <a:gdLst/>
              <a:ahLst/>
              <a:cxnLst/>
              <a:rect l="l" t="t" r="r" b="b"/>
              <a:pathLst>
                <a:path w="1102321" h="1436329" fill="norm" stroke="1" extrusionOk="0">
                  <a:moveTo>
                    <a:pt x="0" y="0"/>
                  </a:moveTo>
                  <a:lnTo>
                    <a:pt x="1102321" y="0"/>
                  </a:lnTo>
                  <a:lnTo>
                    <a:pt x="1102321" y="1436329"/>
                  </a:lnTo>
                  <a:lnTo>
                    <a:pt x="0" y="1436329"/>
                  </a:lnTo>
                  <a:lnTo>
                    <a:pt x="0" y="0"/>
                  </a:lnTo>
                  <a:close/>
                </a:path>
              </a:pathLst>
            </a:custGeom>
            <a:blipFill>
              <a:blip r:embed="rId22"/>
              <a:stretch/>
            </a:blipFill>
          </p:spPr>
        </p:sp>
        <p:sp>
          <p:nvSpPr>
            <p:cNvPr id="39" name="Freeform 39"/>
            <p:cNvSpPr/>
            <p:nvPr/>
          </p:nvSpPr>
          <p:spPr bwMode="auto">
            <a:xfrm rot="-147226">
              <a:off x="6328429" y="2781752"/>
              <a:ext cx="811649" cy="955322"/>
            </a:xfrm>
            <a:custGeom>
              <a:avLst/>
              <a:gdLst/>
              <a:ahLst/>
              <a:cxnLst/>
              <a:rect l="l" t="t" r="r" b="b"/>
              <a:pathLst>
                <a:path w="1082200" h="1273764" fill="norm" stroke="1" extrusionOk="0">
                  <a:moveTo>
                    <a:pt x="0" y="0"/>
                  </a:moveTo>
                  <a:lnTo>
                    <a:pt x="1082201" y="0"/>
                  </a:lnTo>
                  <a:lnTo>
                    <a:pt x="1082201" y="1273764"/>
                  </a:lnTo>
                  <a:lnTo>
                    <a:pt x="0" y="1273764"/>
                  </a:lnTo>
                  <a:lnTo>
                    <a:pt x="0" y="0"/>
                  </a:lnTo>
                  <a:close/>
                </a:path>
              </a:pathLst>
            </a:custGeom>
            <a:blipFill>
              <a:blip r:embed="rId23"/>
              <a:stretch/>
            </a:blipFill>
          </p:spPr>
        </p:sp>
        <p:sp>
          <p:nvSpPr>
            <p:cNvPr id="40" name="Freeform 40"/>
            <p:cNvSpPr/>
            <p:nvPr/>
          </p:nvSpPr>
          <p:spPr bwMode="auto">
            <a:xfrm rot="-147226">
              <a:off x="5354239" y="2835287"/>
              <a:ext cx="927923" cy="926763"/>
            </a:xfrm>
            <a:custGeom>
              <a:avLst/>
              <a:gdLst/>
              <a:ahLst/>
              <a:cxnLst/>
              <a:rect l="l" t="t" r="r" b="b"/>
              <a:pathLst>
                <a:path w="1237232" h="1235685" fill="norm" stroke="1" extrusionOk="0">
                  <a:moveTo>
                    <a:pt x="0" y="0"/>
                  </a:moveTo>
                  <a:lnTo>
                    <a:pt x="1237232" y="0"/>
                  </a:lnTo>
                  <a:lnTo>
                    <a:pt x="1237232" y="1235685"/>
                  </a:lnTo>
                  <a:lnTo>
                    <a:pt x="0" y="1235685"/>
                  </a:lnTo>
                  <a:lnTo>
                    <a:pt x="0" y="0"/>
                  </a:lnTo>
                  <a:close/>
                </a:path>
              </a:pathLst>
            </a:custGeom>
            <a:blipFill>
              <a:blip r:embed="rId24"/>
              <a:stretch/>
            </a:blipFill>
          </p:spPr>
        </p:sp>
        <p:sp>
          <p:nvSpPr>
            <p:cNvPr id="41" name="TextBox 41"/>
            <p:cNvSpPr txBox="1"/>
            <p:nvPr/>
          </p:nvSpPr>
          <p:spPr bwMode="auto">
            <a:xfrm rot="-147226">
              <a:off x="1710292" y="150559"/>
              <a:ext cx="3604813" cy="286495"/>
            </a:xfrm>
            <a:prstGeom prst="rect">
              <a:avLst/>
            </a:prstGeom>
            <a:grpFill/>
          </p:spPr>
          <p:txBody>
            <a:bodyPr lIns="0" tIns="0" rIns="0" bIns="0" rtlCol="0" anchor="t">
              <a:spAutoFit/>
            </a:bodyPr>
            <a:lstStyle/>
            <a:p>
              <a:pPr algn="ctr">
                <a:lnSpc>
                  <a:spcPts val="1655"/>
                </a:lnSpc>
                <a:defRPr/>
              </a:pPr>
              <a:r>
                <a:rPr lang="en-US" sz="2550" b="1" spc="-127">
                  <a:solidFill>
                    <a:srgbClr val="000000"/>
                  </a:solidFill>
                  <a:latin typeface="Caveat Bold"/>
                  <a:ea typeface="Caveat Bold"/>
                  <a:cs typeface="Caveat Bold"/>
                </a:rPr>
                <a:t>UN- SDG initiative</a:t>
              </a:r>
              <a:endParaRPr/>
            </a:p>
          </p:txBody>
        </p:sp>
        <p:sp>
          <p:nvSpPr>
            <p:cNvPr id="42" name="Freeform 42"/>
            <p:cNvSpPr/>
            <p:nvPr/>
          </p:nvSpPr>
          <p:spPr bwMode="auto">
            <a:xfrm rot="512678" flipH="1">
              <a:off x="8180578" y="3169770"/>
              <a:ext cx="550634" cy="453584"/>
            </a:xfrm>
            <a:custGeom>
              <a:avLst/>
              <a:gdLst/>
              <a:ahLst/>
              <a:cxnLst/>
              <a:rect l="l" t="t" r="r" b="b"/>
              <a:pathLst>
                <a:path w="734179" h="604780" fill="norm" stroke="1" extrusionOk="0">
                  <a:moveTo>
                    <a:pt x="734179" y="0"/>
                  </a:moveTo>
                  <a:lnTo>
                    <a:pt x="0" y="0"/>
                  </a:lnTo>
                  <a:lnTo>
                    <a:pt x="0" y="604780"/>
                  </a:lnTo>
                  <a:lnTo>
                    <a:pt x="734179" y="604780"/>
                  </a:lnTo>
                  <a:lnTo>
                    <a:pt x="734179" y="0"/>
                  </a:lnTo>
                  <a:close/>
                </a:path>
              </a:pathLst>
            </a:custGeom>
            <a:blipFill>
              <a:blip r:embed="rId25"/>
              <a:stretch/>
            </a:blipFill>
          </p:spPr>
        </p:sp>
      </p:grpSp>
      <p:grpSp>
        <p:nvGrpSpPr>
          <p:cNvPr id="659703892" name="Group 43"/>
          <p:cNvGrpSpPr/>
          <p:nvPr/>
        </p:nvGrpSpPr>
        <p:grpSpPr bwMode="auto">
          <a:xfrm>
            <a:off x="14407420" y="134405"/>
            <a:ext cx="3519315" cy="934145"/>
            <a:chOff x="0" y="0"/>
            <a:chExt cx="4692420" cy="1245527"/>
          </a:xfrm>
        </p:grpSpPr>
        <p:sp>
          <p:nvSpPr>
            <p:cNvPr id="44" name="Freeform 44"/>
            <p:cNvSpPr/>
            <p:nvPr/>
          </p:nvSpPr>
          <p:spPr bwMode="auto">
            <a:xfrm>
              <a:off x="1643291" y="233036"/>
              <a:ext cx="1118835" cy="863153"/>
            </a:xfrm>
            <a:custGeom>
              <a:avLst/>
              <a:gdLst/>
              <a:ahLst/>
              <a:cxnLst/>
              <a:rect l="l" t="t" r="r" b="b"/>
              <a:pathLst>
                <a:path w="1118835" h="863153" fill="norm" stroke="1" extrusionOk="0">
                  <a:moveTo>
                    <a:pt x="0" y="0"/>
                  </a:moveTo>
                  <a:lnTo>
                    <a:pt x="1118835" y="0"/>
                  </a:lnTo>
                  <a:lnTo>
                    <a:pt x="1118835" y="863153"/>
                  </a:lnTo>
                  <a:lnTo>
                    <a:pt x="0" y="863153"/>
                  </a:lnTo>
                  <a:lnTo>
                    <a:pt x="0" y="0"/>
                  </a:lnTo>
                  <a:close/>
                </a:path>
              </a:pathLst>
            </a:custGeom>
            <a:blipFill>
              <a:blip r:embed="rId26"/>
              <a:stretch/>
            </a:blipFill>
          </p:spPr>
        </p:sp>
        <p:sp>
          <p:nvSpPr>
            <p:cNvPr id="45" name="Freeform 45"/>
            <p:cNvSpPr/>
            <p:nvPr/>
          </p:nvSpPr>
          <p:spPr bwMode="auto">
            <a:xfrm>
              <a:off x="0" y="0"/>
              <a:ext cx="1292661" cy="1096189"/>
            </a:xfrm>
            <a:custGeom>
              <a:avLst/>
              <a:gdLst/>
              <a:ahLst/>
              <a:cxnLst/>
              <a:rect l="l" t="t" r="r" b="b"/>
              <a:pathLst>
                <a:path w="1292661" h="1096189" fill="norm" stroke="1" extrusionOk="0">
                  <a:moveTo>
                    <a:pt x="0" y="0"/>
                  </a:moveTo>
                  <a:lnTo>
                    <a:pt x="1292661" y="0"/>
                  </a:lnTo>
                  <a:lnTo>
                    <a:pt x="1292661" y="1096189"/>
                  </a:lnTo>
                  <a:lnTo>
                    <a:pt x="0" y="1096189"/>
                  </a:lnTo>
                  <a:lnTo>
                    <a:pt x="0" y="0"/>
                  </a:lnTo>
                  <a:close/>
                </a:path>
              </a:pathLst>
            </a:custGeom>
            <a:blipFill>
              <a:blip r:embed="rId27"/>
              <a:stretch/>
            </a:blipFill>
          </p:spPr>
        </p:sp>
        <p:sp>
          <p:nvSpPr>
            <p:cNvPr id="46" name="Freeform 46"/>
            <p:cNvSpPr/>
            <p:nvPr/>
          </p:nvSpPr>
          <p:spPr bwMode="auto">
            <a:xfrm>
              <a:off x="2905209" y="200391"/>
              <a:ext cx="1787211" cy="1045135"/>
            </a:xfrm>
            <a:custGeom>
              <a:avLst/>
              <a:gdLst/>
              <a:ahLst/>
              <a:cxnLst/>
              <a:rect l="l" t="t" r="r" b="b"/>
              <a:pathLst>
                <a:path w="1787211" h="1045135" fill="norm" stroke="1" extrusionOk="0">
                  <a:moveTo>
                    <a:pt x="0" y="0"/>
                  </a:moveTo>
                  <a:lnTo>
                    <a:pt x="1787211" y="0"/>
                  </a:lnTo>
                  <a:lnTo>
                    <a:pt x="1787211" y="1045136"/>
                  </a:lnTo>
                  <a:lnTo>
                    <a:pt x="0" y="1045136"/>
                  </a:lnTo>
                  <a:lnTo>
                    <a:pt x="0" y="0"/>
                  </a:lnTo>
                  <a:close/>
                </a:path>
              </a:pathLst>
            </a:custGeom>
            <a:blipFill>
              <a:blip r:embed="rId28"/>
              <a:stretch>
                <a:fillRect l="-15589" t="-14282" r="-14525" b="0"/>
              </a:stretch>
            </a:blipFill>
          </p:spPr>
        </p:sp>
      </p:grpSp>
      <p:grpSp>
        <p:nvGrpSpPr>
          <p:cNvPr id="337665183" name="Group 47"/>
          <p:cNvGrpSpPr/>
          <p:nvPr/>
        </p:nvGrpSpPr>
        <p:grpSpPr bwMode="auto">
          <a:xfrm>
            <a:off x="545875" y="-799311"/>
            <a:ext cx="965651" cy="1867862"/>
            <a:chOff x="0" y="0"/>
            <a:chExt cx="1287534" cy="2490482"/>
          </a:xfrm>
        </p:grpSpPr>
        <p:grpSp>
          <p:nvGrpSpPr>
            <p:cNvPr id="48" name="Group 48"/>
            <p:cNvGrpSpPr/>
            <p:nvPr/>
          </p:nvGrpSpPr>
          <p:grpSpPr bwMode="auto">
            <a:xfrm>
              <a:off x="79936" y="0"/>
              <a:ext cx="1169956" cy="2490482"/>
              <a:chOff x="0" y="0"/>
              <a:chExt cx="249524" cy="531162"/>
            </a:xfrm>
          </p:grpSpPr>
          <p:sp>
            <p:nvSpPr>
              <p:cNvPr id="49" name="Freeform 49"/>
              <p:cNvSpPr/>
              <p:nvPr/>
            </p:nvSpPr>
            <p:spPr bwMode="auto">
              <a:xfrm>
                <a:off x="0" y="0"/>
                <a:ext cx="249524" cy="531162"/>
              </a:xfrm>
              <a:custGeom>
                <a:avLst/>
                <a:gdLst/>
                <a:ahLst/>
                <a:cxnLst/>
                <a:rect l="l" t="t" r="r" b="b"/>
                <a:pathLst>
                  <a:path w="249524" h="531162" fill="norm" stroke="1" extrusionOk="0">
                    <a:moveTo>
                      <a:pt x="124762" y="0"/>
                    </a:moveTo>
                    <a:lnTo>
                      <a:pt x="124762" y="0"/>
                    </a:lnTo>
                    <a:cubicBezTo>
                      <a:pt x="193666" y="0"/>
                      <a:pt x="249524" y="55858"/>
                      <a:pt x="249524" y="124762"/>
                    </a:cubicBezTo>
                    <a:lnTo>
                      <a:pt x="249524" y="406400"/>
                    </a:lnTo>
                    <a:cubicBezTo>
                      <a:pt x="249524" y="439489"/>
                      <a:pt x="236380" y="471223"/>
                      <a:pt x="212982" y="494620"/>
                    </a:cubicBezTo>
                    <a:cubicBezTo>
                      <a:pt x="189585" y="518018"/>
                      <a:pt x="157851" y="531162"/>
                      <a:pt x="124762" y="531162"/>
                    </a:cubicBezTo>
                    <a:lnTo>
                      <a:pt x="124762" y="531162"/>
                    </a:lnTo>
                    <a:cubicBezTo>
                      <a:pt x="91673" y="531162"/>
                      <a:pt x="59939" y="518018"/>
                      <a:pt x="36542" y="494620"/>
                    </a:cubicBezTo>
                    <a:cubicBezTo>
                      <a:pt x="13145" y="471223"/>
                      <a:pt x="0" y="439489"/>
                      <a:pt x="0" y="406400"/>
                    </a:cubicBezTo>
                    <a:lnTo>
                      <a:pt x="0" y="124762"/>
                    </a:lnTo>
                    <a:cubicBezTo>
                      <a:pt x="0" y="91673"/>
                      <a:pt x="13145" y="59939"/>
                      <a:pt x="36542" y="36542"/>
                    </a:cubicBezTo>
                    <a:cubicBezTo>
                      <a:pt x="59939" y="13145"/>
                      <a:pt x="91673" y="0"/>
                      <a:pt x="124762" y="0"/>
                    </a:cubicBezTo>
                    <a:close/>
                  </a:path>
                </a:pathLst>
              </a:custGeom>
              <a:solidFill>
                <a:srgbClr val="030303"/>
              </a:solidFill>
            </p:spPr>
          </p:sp>
          <p:sp>
            <p:nvSpPr>
              <p:cNvPr id="50" name="TextBox 50"/>
              <p:cNvSpPr txBox="1"/>
              <p:nvPr/>
            </p:nvSpPr>
            <p:spPr bwMode="auto">
              <a:xfrm>
                <a:off x="0" y="-66675"/>
                <a:ext cx="249524" cy="597837"/>
              </a:xfrm>
              <a:prstGeom prst="rect">
                <a:avLst/>
              </a:prstGeom>
              <a:grpFill/>
            </p:spPr>
            <p:txBody>
              <a:bodyPr lIns="50800" tIns="50800" rIns="50800" bIns="50800" rtlCol="0" anchor="ctr"/>
              <a:lstStyle/>
              <a:p>
                <a:pPr algn="ctr">
                  <a:lnSpc>
                    <a:spcPts val="4759"/>
                  </a:lnSpc>
                  <a:defRPr/>
                </a:pPr>
                <a:endParaRPr/>
              </a:p>
            </p:txBody>
          </p:sp>
        </p:grpSp>
        <p:sp>
          <p:nvSpPr>
            <p:cNvPr id="51" name="Freeform 51"/>
            <p:cNvSpPr/>
            <p:nvPr/>
          </p:nvSpPr>
          <p:spPr bwMode="auto">
            <a:xfrm>
              <a:off x="0" y="1293424"/>
              <a:ext cx="1287534" cy="1163491"/>
            </a:xfrm>
            <a:custGeom>
              <a:avLst/>
              <a:gdLst/>
              <a:ahLst/>
              <a:cxnLst/>
              <a:rect l="l" t="t" r="r" b="b"/>
              <a:pathLst>
                <a:path w="1287534" h="1163491" fill="norm" stroke="1" extrusionOk="0">
                  <a:moveTo>
                    <a:pt x="0" y="0"/>
                  </a:moveTo>
                  <a:lnTo>
                    <a:pt x="1287534" y="0"/>
                  </a:lnTo>
                  <a:lnTo>
                    <a:pt x="1287534" y="1163490"/>
                  </a:lnTo>
                  <a:lnTo>
                    <a:pt x="0" y="1163490"/>
                  </a:lnTo>
                  <a:lnTo>
                    <a:pt x="0" y="0"/>
                  </a:lnTo>
                  <a:close/>
                </a:path>
              </a:pathLst>
            </a:custGeom>
            <a:blipFill>
              <a:blip r:embed="rId29"/>
              <a:stretch>
                <a:fillRect l="0" t="-489" r="0" b="-489"/>
              </a:stretch>
            </a:blipFill>
          </p:spPr>
        </p:sp>
      </p:grpSp>
      <p:sp>
        <p:nvSpPr>
          <p:cNvPr id="1354884954" name="TextBox 52"/>
          <p:cNvSpPr txBox="1"/>
          <p:nvPr/>
        </p:nvSpPr>
        <p:spPr bwMode="auto">
          <a:xfrm>
            <a:off x="463893" y="9719501"/>
            <a:ext cx="5201002" cy="333700"/>
          </a:xfrm>
          <a:prstGeom prst="rect">
            <a:avLst/>
          </a:prstGeom>
        </p:spPr>
        <p:txBody>
          <a:bodyPr lIns="0" tIns="0" rIns="0" bIns="0" rtlCol="0" anchor="t">
            <a:spAutoFit/>
          </a:bodyPr>
          <a:lstStyle/>
          <a:p>
            <a:pPr algn="ctr">
              <a:lnSpc>
                <a:spcPts val="2610"/>
              </a:lnSpc>
              <a:defRPr/>
            </a:pPr>
            <a:r>
              <a:rPr lang="en-US" sz="1850">
                <a:solidFill>
                  <a:srgbClr val="000000"/>
                </a:solidFill>
                <a:latin typeface="Poppins"/>
                <a:ea typeface="Poppins"/>
                <a:cs typeface="Poppins"/>
              </a:rPr>
              <a:t>Central India Hackathon 3.0 • SDG 3 &amp; SDG 9</a:t>
            </a:r>
            <a:endParaRPr/>
          </a:p>
        </p:txBody>
      </p:sp>
      <p:sp>
        <p:nvSpPr>
          <p:cNvPr id="67878527" name="TextBox 53"/>
          <p:cNvSpPr txBox="1"/>
          <p:nvPr/>
        </p:nvSpPr>
        <p:spPr bwMode="auto">
          <a:xfrm flipH="0" flipV="0">
            <a:off x="-761999" y="4449993"/>
            <a:ext cx="11545380" cy="924792"/>
          </a:xfrm>
          <a:prstGeom prst="rect">
            <a:avLst/>
          </a:prstGeom>
        </p:spPr>
        <p:txBody>
          <a:bodyPr lIns="0" tIns="0" rIns="0" bIns="0" rtlCol="0" anchor="t">
            <a:spAutoFit/>
          </a:bodyPr>
          <a:lstStyle/>
          <a:p>
            <a:pPr algn="ctr">
              <a:lnSpc>
                <a:spcPts val="7279"/>
              </a:lnSpc>
              <a:defRPr/>
            </a:pPr>
            <a:r>
              <a:rPr lang="en-US" sz="5200" b="1">
                <a:solidFill>
                  <a:srgbClr val="000000"/>
                </a:solidFill>
                <a:latin typeface="Poppins Bold"/>
                <a:ea typeface="Poppins Bold"/>
                <a:cs typeface="Poppins Bold"/>
              </a:rPr>
              <a:t>Team Name:  ThinkBots01</a:t>
            </a:r>
            <a:endParaRPr/>
          </a:p>
        </p:txBody>
      </p:sp>
      <p:sp>
        <p:nvSpPr>
          <p:cNvPr id="1199686745" name="TextBox 54"/>
          <p:cNvSpPr txBox="1"/>
          <p:nvPr/>
        </p:nvSpPr>
        <p:spPr bwMode="auto">
          <a:xfrm flipH="0" flipV="0">
            <a:off x="110795" y="2696095"/>
            <a:ext cx="8558393" cy="924792"/>
          </a:xfrm>
          <a:prstGeom prst="rect">
            <a:avLst/>
          </a:prstGeom>
        </p:spPr>
        <p:txBody>
          <a:bodyPr wrap="square" lIns="0" tIns="0" rIns="0" bIns="0" rtlCol="0" anchor="t">
            <a:spAutoFit/>
          </a:bodyPr>
          <a:lstStyle/>
          <a:p>
            <a:pPr algn="ctr">
              <a:lnSpc>
                <a:spcPts val="7279"/>
              </a:lnSpc>
              <a:defRPr/>
            </a:pPr>
            <a:r>
              <a:rPr lang="en-US" sz="5200" b="1">
                <a:solidFill>
                  <a:srgbClr val="000000"/>
                </a:solidFill>
                <a:latin typeface="Poppins Bold"/>
                <a:ea typeface="Poppins Bold"/>
                <a:cs typeface="Poppins Bold"/>
              </a:rPr>
              <a:t>Project Title:</a:t>
            </a:r>
            <a:r>
              <a:rPr sz="5200"/>
              <a:t>  </a:t>
            </a:r>
            <a:r>
              <a:rPr sz="5200" b="1">
                <a:solidFill>
                  <a:schemeClr val="tx1"/>
                </a:solidFill>
              </a:rPr>
              <a:t>MediTrust</a:t>
            </a:r>
            <a:endParaRPr sz="5200"/>
          </a:p>
        </p:txBody>
      </p:sp>
      <p:sp>
        <p:nvSpPr>
          <p:cNvPr id="977495347" name="TextBox 55"/>
          <p:cNvSpPr txBox="1"/>
          <p:nvPr/>
        </p:nvSpPr>
        <p:spPr bwMode="auto">
          <a:xfrm flipH="0" flipV="0">
            <a:off x="406742" y="5697464"/>
            <a:ext cx="8533706" cy="1849225"/>
          </a:xfrm>
          <a:prstGeom prst="rect">
            <a:avLst/>
          </a:prstGeom>
        </p:spPr>
        <p:txBody>
          <a:bodyPr lIns="0" tIns="0" rIns="0" bIns="0" rtlCol="0" anchor="t">
            <a:spAutoFit/>
          </a:bodyPr>
          <a:lstStyle/>
          <a:p>
            <a:pPr algn="ctr">
              <a:lnSpc>
                <a:spcPts val="7279"/>
              </a:lnSpc>
              <a:defRPr/>
            </a:pPr>
            <a:r>
              <a:rPr lang="en-US" sz="5200" b="1">
                <a:solidFill>
                  <a:srgbClr val="000000"/>
                </a:solidFill>
                <a:latin typeface="Poppins Bold"/>
                <a:ea typeface="Poppins Bold"/>
                <a:cs typeface="Poppins Bold"/>
              </a:rPr>
              <a:t>Team Members:</a:t>
            </a:r>
            <a:r>
              <a:rPr lang="en-US" sz="4800" b="1">
                <a:solidFill>
                  <a:srgbClr val="000000"/>
                </a:solidFill>
                <a:latin typeface="Poppins Bold"/>
                <a:ea typeface="Poppins Bold"/>
                <a:cs typeface="Poppins Bold"/>
              </a:rPr>
              <a:t> </a:t>
            </a:r>
            <a:r>
              <a:rPr lang="en-US" sz="4800" b="0">
                <a:solidFill>
                  <a:srgbClr val="000000"/>
                </a:solidFill>
                <a:latin typeface="Poppins Bold"/>
                <a:ea typeface="Poppins Bold"/>
                <a:cs typeface="Poppins Bold"/>
              </a:rPr>
              <a:t>Rohit Kumar Gupta, Harsh Verma</a:t>
            </a:r>
            <a:r>
              <a:rPr lang="en-US" sz="5200" b="1">
                <a:solidFill>
                  <a:srgbClr val="000000"/>
                </a:solidFill>
                <a:latin typeface="Poppins Bold"/>
                <a:ea typeface="Poppins Bold"/>
                <a:cs typeface="Poppins Bold"/>
              </a:rPr>
              <a:t> </a:t>
            </a:r>
            <a:endParaRPr/>
          </a:p>
        </p:txBody>
      </p:sp>
      <p:sp>
        <p:nvSpPr>
          <p:cNvPr id="1541886542" name="TextBox 56"/>
          <p:cNvSpPr txBox="1"/>
          <p:nvPr/>
        </p:nvSpPr>
        <p:spPr bwMode="auto">
          <a:xfrm flipH="0" flipV="0">
            <a:off x="0" y="8213700"/>
            <a:ext cx="11259286" cy="924792"/>
          </a:xfrm>
          <a:prstGeom prst="rect">
            <a:avLst/>
          </a:prstGeom>
        </p:spPr>
        <p:txBody>
          <a:bodyPr lIns="0" tIns="0" rIns="0" bIns="0" rtlCol="0" anchor="t">
            <a:spAutoFit/>
          </a:bodyPr>
          <a:lstStyle/>
          <a:p>
            <a:pPr algn="ctr">
              <a:lnSpc>
                <a:spcPts val="7279"/>
              </a:lnSpc>
              <a:defRPr/>
            </a:pPr>
            <a:r>
              <a:rPr lang="en-US" sz="5200" b="1">
                <a:solidFill>
                  <a:srgbClr val="000000"/>
                </a:solidFill>
                <a:latin typeface="Poppins Bold"/>
                <a:ea typeface="Poppins Bold"/>
                <a:cs typeface="Poppins Bold"/>
              </a:rPr>
              <a:t>Domain: </a:t>
            </a:r>
            <a:r>
              <a:rPr lang="en-US" sz="5200" b="0">
                <a:solidFill>
                  <a:srgbClr val="000000"/>
                </a:solidFill>
                <a:latin typeface="CaskaydiaMono NF SemiBold"/>
                <a:ea typeface="CaskaydiaMono NF SemiBold"/>
                <a:cs typeface="CaskaydiaMono NF SemiBold"/>
              </a:rPr>
              <a:t> Health and Care</a:t>
            </a:r>
            <a:endParaRPr b="0">
              <a:latin typeface="CaskaydiaMono NF SemiBold"/>
              <a:cs typeface="CaskaydiaMono NF SemiBold"/>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298014361" name="Group 2"/>
          <p:cNvGrpSpPr/>
          <p:nvPr/>
        </p:nvGrpSpPr>
        <p:grpSpPr bwMode="auto">
          <a:xfrm>
            <a:off x="0" y="0"/>
            <a:ext cx="18288000" cy="10972800"/>
            <a:chOff x="0" y="0"/>
            <a:chExt cx="24384000" cy="14630400"/>
          </a:xfrm>
        </p:grpSpPr>
        <p:sp>
          <p:nvSpPr>
            <p:cNvPr id="3" name="Freeform 3"/>
            <p:cNvSpPr/>
            <p:nvPr/>
          </p:nvSpPr>
          <p:spPr bwMode="auto">
            <a:xfrm>
              <a:off x="195072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4" name="Freeform 4"/>
            <p:cNvSpPr/>
            <p:nvPr/>
          </p:nvSpPr>
          <p:spPr bwMode="auto">
            <a:xfrm>
              <a:off x="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5" name="Freeform 5"/>
            <p:cNvSpPr/>
            <p:nvPr/>
          </p:nvSpPr>
          <p:spPr bwMode="auto">
            <a:xfrm>
              <a:off x="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6120"/>
              </a:blip>
              <a:stretch/>
            </a:blipFill>
          </p:spPr>
        </p:sp>
        <p:sp>
          <p:nvSpPr>
            <p:cNvPr id="6" name="Freeform 6"/>
            <p:cNvSpPr/>
            <p:nvPr/>
          </p:nvSpPr>
          <p:spPr bwMode="auto">
            <a:xfrm>
              <a:off x="0" y="48768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17000"/>
              </a:blip>
              <a:stretch/>
            </a:blipFill>
          </p:spPr>
        </p:sp>
        <p:sp>
          <p:nvSpPr>
            <p:cNvPr id="7" name="Freeform 7"/>
            <p:cNvSpPr/>
            <p:nvPr/>
          </p:nvSpPr>
          <p:spPr bwMode="auto">
            <a:xfrm>
              <a:off x="97536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8" name="Freeform 8"/>
            <p:cNvSpPr/>
            <p:nvPr/>
          </p:nvSpPr>
          <p:spPr bwMode="auto">
            <a:xfrm>
              <a:off x="97536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9" name="Freeform 9"/>
            <p:cNvSpPr/>
            <p:nvPr/>
          </p:nvSpPr>
          <p:spPr bwMode="auto">
            <a:xfrm>
              <a:off x="9753600" y="4884141"/>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0" name="Freeform 10"/>
            <p:cNvSpPr/>
            <p:nvPr/>
          </p:nvSpPr>
          <p:spPr bwMode="auto">
            <a:xfrm>
              <a:off x="195072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1" name="Freeform 11"/>
            <p:cNvSpPr/>
            <p:nvPr/>
          </p:nvSpPr>
          <p:spPr bwMode="auto">
            <a:xfrm>
              <a:off x="19507200" y="48768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17000"/>
              </a:blip>
              <a:stretch/>
            </a:blipFill>
          </p:spPr>
        </p:sp>
        <p:sp>
          <p:nvSpPr>
            <p:cNvPr id="12" name="Freeform 12"/>
            <p:cNvSpPr/>
            <p:nvPr/>
          </p:nvSpPr>
          <p:spPr bwMode="auto">
            <a:xfrm>
              <a:off x="48768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3" name="Freeform 13"/>
            <p:cNvSpPr/>
            <p:nvPr/>
          </p:nvSpPr>
          <p:spPr bwMode="auto">
            <a:xfrm>
              <a:off x="48768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4" name="Freeform 14"/>
            <p:cNvSpPr/>
            <p:nvPr/>
          </p:nvSpPr>
          <p:spPr bwMode="auto">
            <a:xfrm>
              <a:off x="4876800" y="4884141"/>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5" name="Freeform 15"/>
            <p:cNvSpPr/>
            <p:nvPr/>
          </p:nvSpPr>
          <p:spPr bwMode="auto">
            <a:xfrm>
              <a:off x="146304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6" name="Freeform 16"/>
            <p:cNvSpPr/>
            <p:nvPr/>
          </p:nvSpPr>
          <p:spPr bwMode="auto">
            <a:xfrm>
              <a:off x="146304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7" name="Freeform 17"/>
            <p:cNvSpPr/>
            <p:nvPr/>
          </p:nvSpPr>
          <p:spPr bwMode="auto">
            <a:xfrm>
              <a:off x="14630400" y="48768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grpSp>
      <p:grpSp>
        <p:nvGrpSpPr>
          <p:cNvPr id="2060043126" name="Group 18"/>
          <p:cNvGrpSpPr/>
          <p:nvPr/>
        </p:nvGrpSpPr>
        <p:grpSpPr bwMode="auto">
          <a:xfrm>
            <a:off x="14407420" y="134405"/>
            <a:ext cx="3519315" cy="934145"/>
            <a:chOff x="0" y="0"/>
            <a:chExt cx="4692420" cy="1245527"/>
          </a:xfrm>
        </p:grpSpPr>
        <p:sp>
          <p:nvSpPr>
            <p:cNvPr id="19" name="Freeform 19"/>
            <p:cNvSpPr/>
            <p:nvPr/>
          </p:nvSpPr>
          <p:spPr bwMode="auto">
            <a:xfrm>
              <a:off x="1643291" y="233036"/>
              <a:ext cx="1118835" cy="863153"/>
            </a:xfrm>
            <a:custGeom>
              <a:avLst/>
              <a:gdLst/>
              <a:ahLst/>
              <a:cxnLst/>
              <a:rect l="l" t="t" r="r" b="b"/>
              <a:pathLst>
                <a:path w="1118835" h="863153" fill="norm" stroke="1" extrusionOk="0">
                  <a:moveTo>
                    <a:pt x="0" y="0"/>
                  </a:moveTo>
                  <a:lnTo>
                    <a:pt x="1118835" y="0"/>
                  </a:lnTo>
                  <a:lnTo>
                    <a:pt x="1118835" y="863153"/>
                  </a:lnTo>
                  <a:lnTo>
                    <a:pt x="0" y="863153"/>
                  </a:lnTo>
                  <a:lnTo>
                    <a:pt x="0" y="0"/>
                  </a:lnTo>
                  <a:close/>
                </a:path>
              </a:pathLst>
            </a:custGeom>
            <a:blipFill>
              <a:blip r:embed="rId5"/>
              <a:stretch/>
            </a:blipFill>
          </p:spPr>
        </p:sp>
        <p:sp>
          <p:nvSpPr>
            <p:cNvPr id="20" name="Freeform 20"/>
            <p:cNvSpPr/>
            <p:nvPr/>
          </p:nvSpPr>
          <p:spPr bwMode="auto">
            <a:xfrm>
              <a:off x="0" y="0"/>
              <a:ext cx="1292661" cy="1096189"/>
            </a:xfrm>
            <a:custGeom>
              <a:avLst/>
              <a:gdLst/>
              <a:ahLst/>
              <a:cxnLst/>
              <a:rect l="l" t="t" r="r" b="b"/>
              <a:pathLst>
                <a:path w="1292661" h="1096189" fill="norm" stroke="1" extrusionOk="0">
                  <a:moveTo>
                    <a:pt x="0" y="0"/>
                  </a:moveTo>
                  <a:lnTo>
                    <a:pt x="1292661" y="0"/>
                  </a:lnTo>
                  <a:lnTo>
                    <a:pt x="1292661" y="1096189"/>
                  </a:lnTo>
                  <a:lnTo>
                    <a:pt x="0" y="1096189"/>
                  </a:lnTo>
                  <a:lnTo>
                    <a:pt x="0" y="0"/>
                  </a:lnTo>
                  <a:close/>
                </a:path>
              </a:pathLst>
            </a:custGeom>
            <a:blipFill>
              <a:blip r:embed="rId6"/>
              <a:stretch/>
            </a:blipFill>
          </p:spPr>
        </p:sp>
        <p:sp>
          <p:nvSpPr>
            <p:cNvPr id="21" name="Freeform 21"/>
            <p:cNvSpPr/>
            <p:nvPr/>
          </p:nvSpPr>
          <p:spPr bwMode="auto">
            <a:xfrm>
              <a:off x="2905209" y="200391"/>
              <a:ext cx="1787211" cy="1045135"/>
            </a:xfrm>
            <a:custGeom>
              <a:avLst/>
              <a:gdLst/>
              <a:ahLst/>
              <a:cxnLst/>
              <a:rect l="l" t="t" r="r" b="b"/>
              <a:pathLst>
                <a:path w="1787211" h="1045135" fill="norm" stroke="1" extrusionOk="0">
                  <a:moveTo>
                    <a:pt x="0" y="0"/>
                  </a:moveTo>
                  <a:lnTo>
                    <a:pt x="1787211" y="0"/>
                  </a:lnTo>
                  <a:lnTo>
                    <a:pt x="1787211" y="1045136"/>
                  </a:lnTo>
                  <a:lnTo>
                    <a:pt x="0" y="1045136"/>
                  </a:lnTo>
                  <a:lnTo>
                    <a:pt x="0" y="0"/>
                  </a:lnTo>
                  <a:close/>
                </a:path>
              </a:pathLst>
            </a:custGeom>
            <a:blipFill>
              <a:blip r:embed="rId7"/>
              <a:stretch>
                <a:fillRect l="-15589" t="-14282" r="-14525" b="0"/>
              </a:stretch>
            </a:blipFill>
          </p:spPr>
        </p:sp>
      </p:grpSp>
      <p:grpSp>
        <p:nvGrpSpPr>
          <p:cNvPr id="162993181" name="Group 22"/>
          <p:cNvGrpSpPr/>
          <p:nvPr/>
        </p:nvGrpSpPr>
        <p:grpSpPr bwMode="auto">
          <a:xfrm>
            <a:off x="545875" y="-799311"/>
            <a:ext cx="965651" cy="1867862"/>
            <a:chOff x="0" y="0"/>
            <a:chExt cx="1287534" cy="2490482"/>
          </a:xfrm>
        </p:grpSpPr>
        <p:grpSp>
          <p:nvGrpSpPr>
            <p:cNvPr id="23" name="Group 23"/>
            <p:cNvGrpSpPr/>
            <p:nvPr/>
          </p:nvGrpSpPr>
          <p:grpSpPr bwMode="auto">
            <a:xfrm>
              <a:off x="79936" y="0"/>
              <a:ext cx="1169956" cy="2490482"/>
              <a:chOff x="0" y="0"/>
              <a:chExt cx="249524" cy="531162"/>
            </a:xfrm>
          </p:grpSpPr>
          <p:sp>
            <p:nvSpPr>
              <p:cNvPr id="24" name="Freeform 24"/>
              <p:cNvSpPr/>
              <p:nvPr/>
            </p:nvSpPr>
            <p:spPr bwMode="auto">
              <a:xfrm>
                <a:off x="0" y="0"/>
                <a:ext cx="249524" cy="531162"/>
              </a:xfrm>
              <a:custGeom>
                <a:avLst/>
                <a:gdLst/>
                <a:ahLst/>
                <a:cxnLst/>
                <a:rect l="l" t="t" r="r" b="b"/>
                <a:pathLst>
                  <a:path w="249524" h="531162" fill="norm" stroke="1" extrusionOk="0">
                    <a:moveTo>
                      <a:pt x="124762" y="0"/>
                    </a:moveTo>
                    <a:lnTo>
                      <a:pt x="124762" y="0"/>
                    </a:lnTo>
                    <a:cubicBezTo>
                      <a:pt x="193666" y="0"/>
                      <a:pt x="249524" y="55858"/>
                      <a:pt x="249524" y="124762"/>
                    </a:cubicBezTo>
                    <a:lnTo>
                      <a:pt x="249524" y="406400"/>
                    </a:lnTo>
                    <a:cubicBezTo>
                      <a:pt x="249524" y="439489"/>
                      <a:pt x="236380" y="471223"/>
                      <a:pt x="212982" y="494620"/>
                    </a:cubicBezTo>
                    <a:cubicBezTo>
                      <a:pt x="189585" y="518018"/>
                      <a:pt x="157851" y="531162"/>
                      <a:pt x="124762" y="531162"/>
                    </a:cubicBezTo>
                    <a:lnTo>
                      <a:pt x="124762" y="531162"/>
                    </a:lnTo>
                    <a:cubicBezTo>
                      <a:pt x="91673" y="531162"/>
                      <a:pt x="59939" y="518018"/>
                      <a:pt x="36542" y="494620"/>
                    </a:cubicBezTo>
                    <a:cubicBezTo>
                      <a:pt x="13145" y="471223"/>
                      <a:pt x="0" y="439489"/>
                      <a:pt x="0" y="406400"/>
                    </a:cubicBezTo>
                    <a:lnTo>
                      <a:pt x="0" y="124762"/>
                    </a:lnTo>
                    <a:cubicBezTo>
                      <a:pt x="0" y="91673"/>
                      <a:pt x="13145" y="59939"/>
                      <a:pt x="36542" y="36542"/>
                    </a:cubicBezTo>
                    <a:cubicBezTo>
                      <a:pt x="59939" y="13145"/>
                      <a:pt x="91673" y="0"/>
                      <a:pt x="124762" y="0"/>
                    </a:cubicBezTo>
                    <a:close/>
                  </a:path>
                </a:pathLst>
              </a:custGeom>
              <a:solidFill>
                <a:srgbClr val="030303"/>
              </a:solidFill>
            </p:spPr>
          </p:sp>
          <p:sp>
            <p:nvSpPr>
              <p:cNvPr id="25" name="TextBox 25"/>
              <p:cNvSpPr txBox="1"/>
              <p:nvPr/>
            </p:nvSpPr>
            <p:spPr bwMode="auto">
              <a:xfrm>
                <a:off x="0" y="-66675"/>
                <a:ext cx="249524" cy="597837"/>
              </a:xfrm>
              <a:prstGeom prst="rect">
                <a:avLst/>
              </a:prstGeom>
              <a:grpFill/>
            </p:spPr>
            <p:txBody>
              <a:bodyPr lIns="50800" tIns="50800" rIns="50800" bIns="50800" rtlCol="0" anchor="ctr"/>
              <a:lstStyle/>
              <a:p>
                <a:pPr algn="ctr">
                  <a:lnSpc>
                    <a:spcPts val="4759"/>
                  </a:lnSpc>
                  <a:defRPr/>
                </a:pPr>
                <a:endParaRPr/>
              </a:p>
            </p:txBody>
          </p:sp>
        </p:grpSp>
        <p:sp>
          <p:nvSpPr>
            <p:cNvPr id="26" name="Freeform 26"/>
            <p:cNvSpPr/>
            <p:nvPr/>
          </p:nvSpPr>
          <p:spPr bwMode="auto">
            <a:xfrm>
              <a:off x="0" y="1293424"/>
              <a:ext cx="1287534" cy="1163491"/>
            </a:xfrm>
            <a:custGeom>
              <a:avLst/>
              <a:gdLst/>
              <a:ahLst/>
              <a:cxnLst/>
              <a:rect l="l" t="t" r="r" b="b"/>
              <a:pathLst>
                <a:path w="1287534" h="1163491" fill="norm" stroke="1" extrusionOk="0">
                  <a:moveTo>
                    <a:pt x="0" y="0"/>
                  </a:moveTo>
                  <a:lnTo>
                    <a:pt x="1287534" y="0"/>
                  </a:lnTo>
                  <a:lnTo>
                    <a:pt x="1287534" y="1163490"/>
                  </a:lnTo>
                  <a:lnTo>
                    <a:pt x="0" y="1163490"/>
                  </a:lnTo>
                  <a:lnTo>
                    <a:pt x="0" y="0"/>
                  </a:lnTo>
                  <a:close/>
                </a:path>
              </a:pathLst>
            </a:custGeom>
            <a:blipFill>
              <a:blip r:embed="rId8"/>
              <a:stretch>
                <a:fillRect l="0" t="-489" r="0" b="-489"/>
              </a:stretch>
            </a:blipFill>
          </p:spPr>
        </p:sp>
      </p:grpSp>
      <p:sp>
        <p:nvSpPr>
          <p:cNvPr id="1456692434" name="TextBox 27"/>
          <p:cNvSpPr txBox="1"/>
          <p:nvPr/>
        </p:nvSpPr>
        <p:spPr bwMode="auto">
          <a:xfrm>
            <a:off x="463893" y="9719501"/>
            <a:ext cx="5201002" cy="333700"/>
          </a:xfrm>
          <a:prstGeom prst="rect">
            <a:avLst/>
          </a:prstGeom>
        </p:spPr>
        <p:txBody>
          <a:bodyPr lIns="0" tIns="0" rIns="0" bIns="0" rtlCol="0" anchor="t">
            <a:spAutoFit/>
          </a:bodyPr>
          <a:lstStyle/>
          <a:p>
            <a:pPr algn="ctr">
              <a:lnSpc>
                <a:spcPts val="2610"/>
              </a:lnSpc>
              <a:defRPr/>
            </a:pPr>
            <a:r>
              <a:rPr lang="en-US" sz="1850">
                <a:solidFill>
                  <a:srgbClr val="000000"/>
                </a:solidFill>
                <a:latin typeface="Poppins"/>
                <a:ea typeface="Poppins"/>
                <a:cs typeface="Poppins"/>
              </a:rPr>
              <a:t>Central India Hackathon 3.0 • SDG 3 &amp; SDG 9</a:t>
            </a:r>
            <a:endParaRPr/>
          </a:p>
        </p:txBody>
      </p:sp>
      <p:sp>
        <p:nvSpPr>
          <p:cNvPr id="2132022102" name="TextBox 28"/>
          <p:cNvSpPr txBox="1"/>
          <p:nvPr/>
        </p:nvSpPr>
        <p:spPr bwMode="auto">
          <a:xfrm>
            <a:off x="4263428" y="878050"/>
            <a:ext cx="9249220" cy="1169679"/>
          </a:xfrm>
          <a:prstGeom prst="rect">
            <a:avLst/>
          </a:prstGeom>
        </p:spPr>
        <p:txBody>
          <a:bodyPr wrap="square" lIns="0" tIns="0" rIns="0" bIns="0" rtlCol="0" anchor="t">
            <a:spAutoFit/>
          </a:bodyPr>
          <a:lstStyle/>
          <a:p>
            <a:pPr algn="ctr">
              <a:lnSpc>
                <a:spcPts val="9604"/>
              </a:lnSpc>
              <a:defRPr/>
            </a:pPr>
            <a:r>
              <a:rPr lang="en-US" sz="6850" b="1">
                <a:solidFill>
                  <a:srgbClr val="000000"/>
                </a:solidFill>
                <a:latin typeface="Poppins Bold"/>
                <a:ea typeface="Poppins Bold"/>
                <a:cs typeface="Poppins Bold"/>
              </a:rPr>
              <a:t>Problem Statement</a:t>
            </a:r>
            <a:endParaRPr/>
          </a:p>
        </p:txBody>
      </p:sp>
      <p:sp>
        <p:nvSpPr>
          <p:cNvPr id="1733154744" name="TextBox 29"/>
          <p:cNvSpPr txBox="1"/>
          <p:nvPr/>
        </p:nvSpPr>
        <p:spPr bwMode="auto">
          <a:xfrm>
            <a:off x="545874" y="2342276"/>
            <a:ext cx="15218932" cy="6949799"/>
          </a:xfrm>
          <a:prstGeom prst="rect">
            <a:avLst/>
          </a:prstGeom>
        </p:spPr>
        <p:txBody>
          <a:bodyPr lIns="0" tIns="0" rIns="0" bIns="0" rtlCol="0" anchor="t">
            <a:spAutoFit/>
          </a:bodyPr>
          <a:lstStyle/>
          <a:p>
            <a:pPr>
              <a:defRPr/>
            </a:pPr>
            <a:r>
              <a:rPr lang="en-US" sz="2400" b="0" i="0" u="none" strike="noStrike" cap="none" spc="0">
                <a:solidFill>
                  <a:srgbClr val="000000"/>
                </a:solidFill>
                <a:latin typeface="Poppins"/>
                <a:ea typeface="Poppins"/>
                <a:cs typeface="Poppins"/>
              </a:rPr>
              <a:t>Access to timely, affordable, trustworthy healthcare is a major challenge in rural and underserved areas. Patients struggle to assess condition severity, connect with verified doctors quickly, and afford medicines and diagnostics. Current platforms overload doctors with minor cases or lack trust, verification, and cost optimization.</a:t>
            </a:r>
            <a:endParaRPr sz="2400" b="0" i="0" u="none" strike="noStrike" cap="none" spc="0">
              <a:solidFill>
                <a:srgbClr val="000000"/>
              </a:solidFill>
              <a:latin typeface="Poppins"/>
              <a:cs typeface="Poppins"/>
            </a:endParaRPr>
          </a:p>
          <a:p>
            <a:pPr>
              <a:defRPr/>
            </a:pPr>
            <a:endParaRPr sz="2400" b="0" i="0" u="none" strike="noStrike" cap="none" spc="0">
              <a:solidFill>
                <a:srgbClr val="000000"/>
              </a:solidFill>
              <a:latin typeface="Poppins"/>
              <a:cs typeface="Poppins"/>
            </a:endParaRPr>
          </a:p>
          <a:p>
            <a:pPr>
              <a:defRPr/>
            </a:pPr>
            <a:r>
              <a:rPr lang="en-US" sz="2400" b="0" i="0" u="none" strike="noStrike" cap="none" spc="0">
                <a:solidFill>
                  <a:srgbClr val="000000"/>
                </a:solidFill>
                <a:latin typeface="Poppins"/>
                <a:ea typeface="Poppins"/>
                <a:cs typeface="Poppins"/>
              </a:rPr>
              <a:t>AI-Assisted Healthcare Platform</a:t>
            </a:r>
            <a:endParaRPr sz="2400" b="0" i="0" u="none" strike="noStrike" cap="none" spc="0">
              <a:solidFill>
                <a:srgbClr val="000000"/>
              </a:solidFill>
              <a:latin typeface="Poppins"/>
              <a:cs typeface="Poppins"/>
            </a:endParaRPr>
          </a:p>
          <a:p>
            <a:pPr>
              <a:defRPr/>
            </a:pPr>
            <a:endParaRPr sz="2400" b="0" i="0" u="none" strike="noStrike" cap="none" spc="0">
              <a:solidFill>
                <a:srgbClr val="000000"/>
              </a:solidFill>
              <a:latin typeface="Poppins"/>
              <a:cs typeface="Poppins"/>
            </a:endParaRPr>
          </a:p>
          <a:p>
            <a:pPr>
              <a:defRPr/>
            </a:pPr>
            <a:r>
              <a:rPr lang="en-US" sz="2400" b="0" i="0" u="none" strike="noStrike" cap="none" spc="0">
                <a:solidFill>
                  <a:srgbClr val="000000"/>
                </a:solidFill>
                <a:latin typeface="Poppins"/>
                <a:ea typeface="Poppins"/>
                <a:cs typeface="Poppins"/>
              </a:rPr>
              <a:t>Build an AI-powered platform with an intelligent triage system to evaluate condition severity. For non-severe cases, provide guided AI assistance and recommendations; for critical cases, instantly escalate to the best-matched, verified doctor.</a:t>
            </a:r>
            <a:endParaRPr sz="2400" b="0" i="0" u="none" strike="noStrike" cap="none" spc="0">
              <a:solidFill>
                <a:srgbClr val="000000"/>
              </a:solidFill>
              <a:latin typeface="Poppins"/>
              <a:cs typeface="Poppins"/>
            </a:endParaRPr>
          </a:p>
          <a:p>
            <a:pPr>
              <a:defRPr/>
            </a:pPr>
            <a:endParaRPr sz="2400" b="0" i="0" u="none" strike="noStrike" cap="none" spc="0">
              <a:solidFill>
                <a:srgbClr val="000000"/>
              </a:solidFill>
              <a:latin typeface="Poppins"/>
              <a:cs typeface="Poppins"/>
            </a:endParaRPr>
          </a:p>
          <a:p>
            <a:pPr>
              <a:defRPr/>
            </a:pPr>
            <a:r>
              <a:rPr lang="en-US" sz="2400" b="0" i="0" u="none" strike="noStrike" cap="none" spc="0">
                <a:solidFill>
                  <a:srgbClr val="000000"/>
                </a:solidFill>
                <a:latin typeface="Poppins"/>
                <a:ea typeface="Poppins"/>
                <a:cs typeface="Poppins"/>
              </a:rPr>
              <a:t>Key Features:</a:t>
            </a:r>
            <a:endParaRPr sz="2400" b="0" i="0" u="none" strike="noStrike" cap="none" spc="0">
              <a:solidFill>
                <a:srgbClr val="000000"/>
              </a:solidFill>
              <a:latin typeface="Poppins"/>
              <a:cs typeface="Poppins"/>
            </a:endParaRPr>
          </a:p>
          <a:p>
            <a:pPr>
              <a:defRPr/>
            </a:pPr>
            <a:endParaRPr sz="2400" b="0" i="0" u="none" strike="noStrike" cap="none" spc="0">
              <a:solidFill>
                <a:srgbClr val="000000"/>
              </a:solidFill>
              <a:latin typeface="Poppins"/>
              <a:cs typeface="Poppins"/>
            </a:endParaRPr>
          </a:p>
          <a:p>
            <a:pPr marL="349965" indent="-349965">
              <a:buFont typeface="Arial"/>
              <a:buChar char="•"/>
              <a:defRPr/>
            </a:pPr>
            <a:r>
              <a:rPr lang="en-US" sz="2400" b="0" i="0" u="none" strike="noStrike" cap="none" spc="0">
                <a:solidFill>
                  <a:srgbClr val="000000"/>
                </a:solidFill>
                <a:latin typeface="Poppins"/>
                <a:ea typeface="Poppins"/>
                <a:cs typeface="Poppins"/>
              </a:rPr>
              <a:t>Video/audio/chat consultations and online/offline appointment booking.</a:t>
            </a:r>
            <a:endParaRPr lang="en-US" sz="2400" b="0" i="0" u="none" strike="noStrike" cap="none" spc="0">
              <a:solidFill>
                <a:srgbClr val="000000"/>
              </a:solidFill>
              <a:latin typeface="Poppins"/>
              <a:ea typeface="Poppins"/>
              <a:cs typeface="Poppins"/>
            </a:endParaRPr>
          </a:p>
          <a:p>
            <a:pPr marL="349965" indent="-349965">
              <a:buFont typeface="Arial"/>
              <a:buChar char="•"/>
              <a:defRPr/>
            </a:pPr>
            <a:r>
              <a:rPr lang="en-US" sz="2400" b="0" i="0" u="none" strike="noStrike" cap="none" spc="0">
                <a:solidFill>
                  <a:srgbClr val="000000"/>
                </a:solidFill>
                <a:latin typeface="Poppins"/>
                <a:ea typeface="Poppins"/>
                <a:cs typeface="Poppins"/>
              </a:rPr>
              <a:t>Lab/diagnostic bookings.</a:t>
            </a:r>
            <a:endParaRPr sz="2400" b="0" i="0" u="none" strike="noStrike" cap="none" spc="0">
              <a:solidFill>
                <a:srgbClr val="000000"/>
              </a:solidFill>
              <a:latin typeface="Poppins"/>
              <a:cs typeface="Poppins"/>
            </a:endParaRPr>
          </a:p>
          <a:p>
            <a:pPr marL="349965" indent="-349965">
              <a:buFont typeface="Arial"/>
              <a:buChar char="•"/>
              <a:defRPr/>
            </a:pPr>
            <a:r>
              <a:rPr lang="en-US" sz="2400" b="0" i="0" u="none" strike="noStrike" cap="none" spc="0">
                <a:solidFill>
                  <a:srgbClr val="000000"/>
                </a:solidFill>
                <a:latin typeface="Poppins"/>
                <a:ea typeface="Poppins"/>
                <a:cs typeface="Poppins"/>
              </a:rPr>
              <a:t>Doctor verification via government registries.</a:t>
            </a:r>
            <a:endParaRPr sz="2400" b="0" i="0" u="none" strike="noStrike" cap="none" spc="0">
              <a:solidFill>
                <a:srgbClr val="000000"/>
              </a:solidFill>
              <a:latin typeface="Poppins"/>
              <a:cs typeface="Poppins"/>
            </a:endParaRPr>
          </a:p>
          <a:p>
            <a:pPr marL="349965" indent="-349965">
              <a:buFont typeface="Arial"/>
              <a:buChar char="•"/>
              <a:defRPr/>
            </a:pPr>
            <a:r>
              <a:rPr lang="en-US" sz="2400" b="0" i="0" u="none" strike="noStrike" cap="none" spc="0">
                <a:solidFill>
                  <a:srgbClr val="000000"/>
                </a:solidFill>
                <a:latin typeface="Poppins"/>
                <a:ea typeface="Poppins"/>
                <a:cs typeface="Poppins"/>
              </a:rPr>
              <a:t>Cost-effective generics (doctor-approved only).</a:t>
            </a:r>
            <a:endParaRPr sz="2400" b="0" i="0" u="none" strike="noStrike" cap="none" spc="0">
              <a:solidFill>
                <a:srgbClr val="000000"/>
              </a:solidFill>
              <a:latin typeface="Poppins"/>
              <a:cs typeface="Poppins"/>
            </a:endParaRPr>
          </a:p>
          <a:p>
            <a:pPr marL="349965" indent="-349965">
              <a:buFont typeface="Arial"/>
              <a:buChar char="•"/>
              <a:defRPr/>
            </a:pPr>
            <a:r>
              <a:rPr lang="en-US" sz="2400" b="0" i="0" u="none" strike="noStrike" cap="none" spc="0">
                <a:solidFill>
                  <a:srgbClr val="000000"/>
                </a:solidFill>
                <a:latin typeface="Poppins"/>
                <a:ea typeface="Poppins"/>
                <a:cs typeface="Poppins"/>
              </a:rPr>
              <a:t>Transparent ratings/reviews.</a:t>
            </a:r>
            <a:endParaRPr sz="2400" b="0" i="0" u="none" strike="noStrike" cap="none" spc="0">
              <a:solidFill>
                <a:srgbClr val="000000"/>
              </a:solidFill>
              <a:latin typeface="Poppins"/>
              <a:cs typeface="Poppins"/>
            </a:endParaRPr>
          </a:p>
          <a:p>
            <a:pPr>
              <a:defRPr/>
            </a:pPr>
            <a:endParaRPr sz="2400" b="0" i="0" u="none" strike="noStrike" cap="none" spc="0">
              <a:solidFill>
                <a:srgbClr val="000000"/>
              </a:solidFill>
              <a:latin typeface="Poppins"/>
              <a:cs typeface="Poppins"/>
            </a:endParaRPr>
          </a:p>
          <a:p>
            <a:pPr>
              <a:defRPr/>
            </a:pPr>
            <a:r>
              <a:rPr lang="en-US" sz="2400" b="0" i="0" u="none" strike="noStrike" cap="none" spc="0">
                <a:solidFill>
                  <a:srgbClr val="000000"/>
                </a:solidFill>
                <a:latin typeface="Poppins"/>
                <a:ea typeface="Poppins"/>
                <a:cs typeface="Poppins"/>
              </a:rPr>
              <a:t>Ensure affordability, scalability for low-connectivity areas, patient safety, data privacy, and ethical AI.</a:t>
            </a:r>
            <a:endParaRPr sz="2400" b="0" i="0" u="none" strike="noStrike" cap="none" spc="0">
              <a:solidFill>
                <a:srgbClr val="000000"/>
              </a:solidFill>
              <a:latin typeface="Poppins"/>
              <a:cs typeface="Poppin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538019782" name="Group 2"/>
          <p:cNvGrpSpPr/>
          <p:nvPr/>
        </p:nvGrpSpPr>
        <p:grpSpPr bwMode="auto">
          <a:xfrm>
            <a:off x="0" y="0"/>
            <a:ext cx="18288000" cy="10972800"/>
            <a:chOff x="0" y="0"/>
            <a:chExt cx="24384000" cy="14630400"/>
          </a:xfrm>
        </p:grpSpPr>
        <p:sp>
          <p:nvSpPr>
            <p:cNvPr id="3" name="Freeform 3"/>
            <p:cNvSpPr/>
            <p:nvPr/>
          </p:nvSpPr>
          <p:spPr bwMode="auto">
            <a:xfrm>
              <a:off x="195072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4" name="Freeform 4"/>
            <p:cNvSpPr/>
            <p:nvPr/>
          </p:nvSpPr>
          <p:spPr bwMode="auto">
            <a:xfrm>
              <a:off x="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5" name="Freeform 5"/>
            <p:cNvSpPr/>
            <p:nvPr/>
          </p:nvSpPr>
          <p:spPr bwMode="auto">
            <a:xfrm>
              <a:off x="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6" name="Freeform 6"/>
            <p:cNvSpPr/>
            <p:nvPr/>
          </p:nvSpPr>
          <p:spPr bwMode="auto">
            <a:xfrm>
              <a:off x="0" y="48768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17000"/>
              </a:blip>
              <a:stretch/>
            </a:blipFill>
          </p:spPr>
        </p:sp>
        <p:sp>
          <p:nvSpPr>
            <p:cNvPr id="7" name="Freeform 7"/>
            <p:cNvSpPr/>
            <p:nvPr/>
          </p:nvSpPr>
          <p:spPr bwMode="auto">
            <a:xfrm>
              <a:off x="97536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8" name="Freeform 8"/>
            <p:cNvSpPr/>
            <p:nvPr/>
          </p:nvSpPr>
          <p:spPr bwMode="auto">
            <a:xfrm>
              <a:off x="97536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9" name="Freeform 9"/>
            <p:cNvSpPr/>
            <p:nvPr/>
          </p:nvSpPr>
          <p:spPr bwMode="auto">
            <a:xfrm>
              <a:off x="9753600" y="4884141"/>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0" name="Freeform 10"/>
            <p:cNvSpPr/>
            <p:nvPr/>
          </p:nvSpPr>
          <p:spPr bwMode="auto">
            <a:xfrm>
              <a:off x="195072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1" name="Freeform 11"/>
            <p:cNvSpPr/>
            <p:nvPr/>
          </p:nvSpPr>
          <p:spPr bwMode="auto">
            <a:xfrm>
              <a:off x="19507200" y="48768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17000"/>
              </a:blip>
              <a:stretch/>
            </a:blipFill>
          </p:spPr>
        </p:sp>
        <p:sp>
          <p:nvSpPr>
            <p:cNvPr id="12" name="Freeform 12"/>
            <p:cNvSpPr/>
            <p:nvPr/>
          </p:nvSpPr>
          <p:spPr bwMode="auto">
            <a:xfrm>
              <a:off x="48768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3" name="Freeform 13"/>
            <p:cNvSpPr/>
            <p:nvPr/>
          </p:nvSpPr>
          <p:spPr bwMode="auto">
            <a:xfrm>
              <a:off x="48768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4" name="Freeform 14"/>
            <p:cNvSpPr/>
            <p:nvPr/>
          </p:nvSpPr>
          <p:spPr bwMode="auto">
            <a:xfrm>
              <a:off x="4876800" y="4884141"/>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5" name="Freeform 15"/>
            <p:cNvSpPr/>
            <p:nvPr/>
          </p:nvSpPr>
          <p:spPr bwMode="auto">
            <a:xfrm>
              <a:off x="146304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6" name="Freeform 16"/>
            <p:cNvSpPr/>
            <p:nvPr/>
          </p:nvSpPr>
          <p:spPr bwMode="auto">
            <a:xfrm>
              <a:off x="146304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7" name="Freeform 17"/>
            <p:cNvSpPr/>
            <p:nvPr/>
          </p:nvSpPr>
          <p:spPr bwMode="auto">
            <a:xfrm>
              <a:off x="14630400" y="48768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grpSp>
      <p:grpSp>
        <p:nvGrpSpPr>
          <p:cNvPr id="1448612368" name="Group 18"/>
          <p:cNvGrpSpPr/>
          <p:nvPr/>
        </p:nvGrpSpPr>
        <p:grpSpPr bwMode="auto">
          <a:xfrm>
            <a:off x="14407420" y="134405"/>
            <a:ext cx="3519315" cy="934145"/>
            <a:chOff x="0" y="0"/>
            <a:chExt cx="4692420" cy="1245527"/>
          </a:xfrm>
        </p:grpSpPr>
        <p:sp>
          <p:nvSpPr>
            <p:cNvPr id="19" name="Freeform 19"/>
            <p:cNvSpPr/>
            <p:nvPr/>
          </p:nvSpPr>
          <p:spPr bwMode="auto">
            <a:xfrm>
              <a:off x="1643291" y="233036"/>
              <a:ext cx="1118835" cy="863153"/>
            </a:xfrm>
            <a:custGeom>
              <a:avLst/>
              <a:gdLst/>
              <a:ahLst/>
              <a:cxnLst/>
              <a:rect l="l" t="t" r="r" b="b"/>
              <a:pathLst>
                <a:path w="1118835" h="863153" fill="norm" stroke="1" extrusionOk="0">
                  <a:moveTo>
                    <a:pt x="0" y="0"/>
                  </a:moveTo>
                  <a:lnTo>
                    <a:pt x="1118835" y="0"/>
                  </a:lnTo>
                  <a:lnTo>
                    <a:pt x="1118835" y="863153"/>
                  </a:lnTo>
                  <a:lnTo>
                    <a:pt x="0" y="863153"/>
                  </a:lnTo>
                  <a:lnTo>
                    <a:pt x="0" y="0"/>
                  </a:lnTo>
                  <a:close/>
                </a:path>
              </a:pathLst>
            </a:custGeom>
            <a:blipFill>
              <a:blip r:embed="rId5"/>
              <a:stretch/>
            </a:blipFill>
          </p:spPr>
        </p:sp>
        <p:sp>
          <p:nvSpPr>
            <p:cNvPr id="20" name="Freeform 20"/>
            <p:cNvSpPr/>
            <p:nvPr/>
          </p:nvSpPr>
          <p:spPr bwMode="auto">
            <a:xfrm>
              <a:off x="0" y="0"/>
              <a:ext cx="1292661" cy="1096189"/>
            </a:xfrm>
            <a:custGeom>
              <a:avLst/>
              <a:gdLst/>
              <a:ahLst/>
              <a:cxnLst/>
              <a:rect l="l" t="t" r="r" b="b"/>
              <a:pathLst>
                <a:path w="1292661" h="1096189" fill="norm" stroke="1" extrusionOk="0">
                  <a:moveTo>
                    <a:pt x="0" y="0"/>
                  </a:moveTo>
                  <a:lnTo>
                    <a:pt x="1292661" y="0"/>
                  </a:lnTo>
                  <a:lnTo>
                    <a:pt x="1292661" y="1096189"/>
                  </a:lnTo>
                  <a:lnTo>
                    <a:pt x="0" y="1096189"/>
                  </a:lnTo>
                  <a:lnTo>
                    <a:pt x="0" y="0"/>
                  </a:lnTo>
                  <a:close/>
                </a:path>
              </a:pathLst>
            </a:custGeom>
            <a:blipFill>
              <a:blip r:embed="rId6"/>
              <a:stretch/>
            </a:blipFill>
          </p:spPr>
        </p:sp>
        <p:sp>
          <p:nvSpPr>
            <p:cNvPr id="21" name="Freeform 21"/>
            <p:cNvSpPr/>
            <p:nvPr/>
          </p:nvSpPr>
          <p:spPr bwMode="auto">
            <a:xfrm>
              <a:off x="2905209" y="200391"/>
              <a:ext cx="1787211" cy="1045135"/>
            </a:xfrm>
            <a:custGeom>
              <a:avLst/>
              <a:gdLst/>
              <a:ahLst/>
              <a:cxnLst/>
              <a:rect l="l" t="t" r="r" b="b"/>
              <a:pathLst>
                <a:path w="1787211" h="1045135" fill="norm" stroke="1" extrusionOk="0">
                  <a:moveTo>
                    <a:pt x="0" y="0"/>
                  </a:moveTo>
                  <a:lnTo>
                    <a:pt x="1787211" y="0"/>
                  </a:lnTo>
                  <a:lnTo>
                    <a:pt x="1787211" y="1045136"/>
                  </a:lnTo>
                  <a:lnTo>
                    <a:pt x="0" y="1045136"/>
                  </a:lnTo>
                  <a:lnTo>
                    <a:pt x="0" y="0"/>
                  </a:lnTo>
                  <a:close/>
                </a:path>
              </a:pathLst>
            </a:custGeom>
            <a:blipFill>
              <a:blip r:embed="rId7"/>
              <a:stretch>
                <a:fillRect l="-15589" t="-14282" r="-14525" b="0"/>
              </a:stretch>
            </a:blipFill>
          </p:spPr>
        </p:sp>
      </p:grpSp>
      <p:grpSp>
        <p:nvGrpSpPr>
          <p:cNvPr id="2011971410" name="Group 22"/>
          <p:cNvGrpSpPr/>
          <p:nvPr/>
        </p:nvGrpSpPr>
        <p:grpSpPr bwMode="auto">
          <a:xfrm>
            <a:off x="545875" y="-799311"/>
            <a:ext cx="965651" cy="1867862"/>
            <a:chOff x="0" y="0"/>
            <a:chExt cx="1287534" cy="2490482"/>
          </a:xfrm>
        </p:grpSpPr>
        <p:grpSp>
          <p:nvGrpSpPr>
            <p:cNvPr id="23" name="Group 23"/>
            <p:cNvGrpSpPr/>
            <p:nvPr/>
          </p:nvGrpSpPr>
          <p:grpSpPr bwMode="auto">
            <a:xfrm>
              <a:off x="79936" y="0"/>
              <a:ext cx="1169956" cy="2490482"/>
              <a:chOff x="0" y="0"/>
              <a:chExt cx="249524" cy="531162"/>
            </a:xfrm>
          </p:grpSpPr>
          <p:sp>
            <p:nvSpPr>
              <p:cNvPr id="24" name="Freeform 24"/>
              <p:cNvSpPr/>
              <p:nvPr/>
            </p:nvSpPr>
            <p:spPr bwMode="auto">
              <a:xfrm>
                <a:off x="0" y="0"/>
                <a:ext cx="249524" cy="531162"/>
              </a:xfrm>
              <a:custGeom>
                <a:avLst/>
                <a:gdLst/>
                <a:ahLst/>
                <a:cxnLst/>
                <a:rect l="l" t="t" r="r" b="b"/>
                <a:pathLst>
                  <a:path w="249524" h="531162" fill="norm" stroke="1" extrusionOk="0">
                    <a:moveTo>
                      <a:pt x="124762" y="0"/>
                    </a:moveTo>
                    <a:lnTo>
                      <a:pt x="124762" y="0"/>
                    </a:lnTo>
                    <a:cubicBezTo>
                      <a:pt x="193666" y="0"/>
                      <a:pt x="249524" y="55858"/>
                      <a:pt x="249524" y="124762"/>
                    </a:cubicBezTo>
                    <a:lnTo>
                      <a:pt x="249524" y="406400"/>
                    </a:lnTo>
                    <a:cubicBezTo>
                      <a:pt x="249524" y="439489"/>
                      <a:pt x="236380" y="471223"/>
                      <a:pt x="212982" y="494620"/>
                    </a:cubicBezTo>
                    <a:cubicBezTo>
                      <a:pt x="189585" y="518018"/>
                      <a:pt x="157851" y="531162"/>
                      <a:pt x="124762" y="531162"/>
                    </a:cubicBezTo>
                    <a:lnTo>
                      <a:pt x="124762" y="531162"/>
                    </a:lnTo>
                    <a:cubicBezTo>
                      <a:pt x="91673" y="531162"/>
                      <a:pt x="59939" y="518018"/>
                      <a:pt x="36542" y="494620"/>
                    </a:cubicBezTo>
                    <a:cubicBezTo>
                      <a:pt x="13145" y="471223"/>
                      <a:pt x="0" y="439489"/>
                      <a:pt x="0" y="406400"/>
                    </a:cubicBezTo>
                    <a:lnTo>
                      <a:pt x="0" y="124762"/>
                    </a:lnTo>
                    <a:cubicBezTo>
                      <a:pt x="0" y="91673"/>
                      <a:pt x="13145" y="59939"/>
                      <a:pt x="36542" y="36542"/>
                    </a:cubicBezTo>
                    <a:cubicBezTo>
                      <a:pt x="59939" y="13145"/>
                      <a:pt x="91673" y="0"/>
                      <a:pt x="124762" y="0"/>
                    </a:cubicBezTo>
                    <a:close/>
                  </a:path>
                </a:pathLst>
              </a:custGeom>
              <a:solidFill>
                <a:srgbClr val="030303"/>
              </a:solidFill>
            </p:spPr>
          </p:sp>
          <p:sp>
            <p:nvSpPr>
              <p:cNvPr id="25" name="TextBox 25"/>
              <p:cNvSpPr txBox="1"/>
              <p:nvPr/>
            </p:nvSpPr>
            <p:spPr bwMode="auto">
              <a:xfrm>
                <a:off x="0" y="-66675"/>
                <a:ext cx="249524" cy="597837"/>
              </a:xfrm>
              <a:prstGeom prst="rect">
                <a:avLst/>
              </a:prstGeom>
              <a:grpFill/>
            </p:spPr>
            <p:txBody>
              <a:bodyPr lIns="50800" tIns="50800" rIns="50800" bIns="50800" rtlCol="0" anchor="ctr"/>
              <a:lstStyle/>
              <a:p>
                <a:pPr algn="ctr">
                  <a:lnSpc>
                    <a:spcPts val="4759"/>
                  </a:lnSpc>
                  <a:defRPr/>
                </a:pPr>
                <a:endParaRPr/>
              </a:p>
            </p:txBody>
          </p:sp>
        </p:grpSp>
        <p:sp>
          <p:nvSpPr>
            <p:cNvPr id="26" name="Freeform 26"/>
            <p:cNvSpPr/>
            <p:nvPr/>
          </p:nvSpPr>
          <p:spPr bwMode="auto">
            <a:xfrm>
              <a:off x="0" y="1293424"/>
              <a:ext cx="1287534" cy="1163491"/>
            </a:xfrm>
            <a:custGeom>
              <a:avLst/>
              <a:gdLst/>
              <a:ahLst/>
              <a:cxnLst/>
              <a:rect l="l" t="t" r="r" b="b"/>
              <a:pathLst>
                <a:path w="1287534" h="1163491" fill="norm" stroke="1" extrusionOk="0">
                  <a:moveTo>
                    <a:pt x="0" y="0"/>
                  </a:moveTo>
                  <a:lnTo>
                    <a:pt x="1287534" y="0"/>
                  </a:lnTo>
                  <a:lnTo>
                    <a:pt x="1287534" y="1163490"/>
                  </a:lnTo>
                  <a:lnTo>
                    <a:pt x="0" y="1163490"/>
                  </a:lnTo>
                  <a:lnTo>
                    <a:pt x="0" y="0"/>
                  </a:lnTo>
                  <a:close/>
                </a:path>
              </a:pathLst>
            </a:custGeom>
            <a:blipFill>
              <a:blip r:embed="rId8"/>
              <a:stretch>
                <a:fillRect l="0" t="-489" r="0" b="-489"/>
              </a:stretch>
            </a:blipFill>
          </p:spPr>
        </p:sp>
      </p:grpSp>
      <p:sp>
        <p:nvSpPr>
          <p:cNvPr id="1648284177" name="TextBox 27"/>
          <p:cNvSpPr txBox="1"/>
          <p:nvPr/>
        </p:nvSpPr>
        <p:spPr bwMode="auto">
          <a:xfrm>
            <a:off x="463892" y="9719500"/>
            <a:ext cx="5202441" cy="331830"/>
          </a:xfrm>
          <a:prstGeom prst="rect">
            <a:avLst/>
          </a:prstGeom>
        </p:spPr>
        <p:txBody>
          <a:bodyPr lIns="0" tIns="0" rIns="0" bIns="0" rtlCol="0" anchor="t">
            <a:spAutoFit/>
          </a:bodyPr>
          <a:lstStyle/>
          <a:p>
            <a:pPr algn="ctr">
              <a:lnSpc>
                <a:spcPts val="2610"/>
              </a:lnSpc>
              <a:defRPr/>
            </a:pPr>
            <a:endParaRPr/>
          </a:p>
        </p:txBody>
      </p:sp>
      <p:sp>
        <p:nvSpPr>
          <p:cNvPr id="254212482" name="TextBox 28"/>
          <p:cNvSpPr txBox="1"/>
          <p:nvPr/>
        </p:nvSpPr>
        <p:spPr bwMode="auto">
          <a:xfrm>
            <a:off x="4226957" y="51486"/>
            <a:ext cx="9616730" cy="1169679"/>
          </a:xfrm>
          <a:prstGeom prst="rect">
            <a:avLst/>
          </a:prstGeom>
        </p:spPr>
        <p:txBody>
          <a:bodyPr wrap="square" lIns="0" tIns="0" rIns="0" bIns="0" rtlCol="0" anchor="t">
            <a:spAutoFit/>
          </a:bodyPr>
          <a:lstStyle/>
          <a:p>
            <a:pPr algn="ctr">
              <a:lnSpc>
                <a:spcPts val="9604"/>
              </a:lnSpc>
              <a:defRPr/>
            </a:pPr>
            <a:r>
              <a:rPr lang="en-US" sz="6850" b="1">
                <a:solidFill>
                  <a:srgbClr val="000000"/>
                </a:solidFill>
                <a:latin typeface="Poppins Bold"/>
                <a:ea typeface="Poppins Bold"/>
                <a:cs typeface="Poppins Bold"/>
              </a:rPr>
              <a:t>Proposed Solution</a:t>
            </a:r>
            <a:endParaRPr/>
          </a:p>
        </p:txBody>
      </p:sp>
      <p:sp>
        <p:nvSpPr>
          <p:cNvPr id="358679130" name="TextBox 29"/>
          <p:cNvSpPr txBox="1"/>
          <p:nvPr/>
        </p:nvSpPr>
        <p:spPr bwMode="auto">
          <a:xfrm flipH="0" flipV="0">
            <a:off x="1433595" y="1277740"/>
            <a:ext cx="15203452" cy="396599"/>
          </a:xfrm>
          <a:prstGeom prst="rect">
            <a:avLst/>
          </a:prstGeom>
        </p:spPr>
        <p:txBody>
          <a:bodyPr lIns="0" tIns="0" rIns="0" bIns="0" rtlCol="0" anchor="t">
            <a:spAutoFit/>
          </a:bodyPr>
          <a:lstStyle/>
          <a:p>
            <a:pPr>
              <a:defRPr/>
            </a:pPr>
            <a:r>
              <a:rPr sz="2600" b="1" i="0" u="none">
                <a:solidFill>
                  <a:srgbClr val="000000"/>
                </a:solidFill>
                <a:latin typeface="Times New Roman"/>
                <a:ea typeface="Times New Roman"/>
                <a:cs typeface="Times New Roman"/>
              </a:rPr>
              <a:t>“From symptoms to solutions—fast, personalized care powered by AI and expert doctors.”</a:t>
            </a:r>
            <a:endParaRPr sz="2600"/>
          </a:p>
        </p:txBody>
      </p:sp>
      <p:sp>
        <p:nvSpPr>
          <p:cNvPr id="358311018" name=""/>
          <p:cNvSpPr txBox="1"/>
          <p:nvPr/>
        </p:nvSpPr>
        <p:spPr bwMode="auto">
          <a:xfrm rot="0" flipH="0" flipV="0">
            <a:off x="1238310" y="1798499"/>
            <a:ext cx="16366759" cy="841283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600" b="1" i="0" u="none">
                <a:solidFill>
                  <a:srgbClr val="000000"/>
                </a:solidFill>
                <a:latin typeface="Times New Roman"/>
                <a:ea typeface="Times New Roman"/>
                <a:cs typeface="Times New Roman"/>
              </a:rPr>
              <a:t>1. Quick Symptom Assessment</a:t>
            </a:r>
            <a:endParaRPr sz="2600" b="1" i="0" u="none">
              <a:solidFill>
                <a:srgbClr val="000000"/>
              </a:solidFill>
              <a:latin typeface="Times New Roman"/>
              <a:ea typeface="Times New Roman"/>
              <a:cs typeface="Times New Roman"/>
            </a:endParaRPr>
          </a:p>
          <a:p>
            <a:pPr lvl="1">
              <a:defRPr/>
            </a:pPr>
            <a:r>
              <a:rPr sz="2600" b="1" i="0" u="none">
                <a:solidFill>
                  <a:srgbClr val="000000"/>
                </a:solidFill>
                <a:latin typeface="Times New Roman"/>
                <a:ea typeface="Times New Roman"/>
                <a:cs typeface="Times New Roman"/>
              </a:rPr>
              <a:t>Problem:</a:t>
            </a:r>
            <a:r>
              <a:rPr sz="2600" b="0" i="0" u="none">
                <a:solidFill>
                  <a:srgbClr val="000000"/>
                </a:solidFill>
                <a:latin typeface="Times New Roman"/>
                <a:ea typeface="Times New Roman"/>
                <a:cs typeface="Times New Roman"/>
              </a:rPr>
              <a:t> People don’t know if their symptoms are serious.</a:t>
            </a:r>
            <a:endParaRPr sz="2600" b="0" i="0" u="none">
              <a:solidFill>
                <a:srgbClr val="000000"/>
              </a:solidFill>
              <a:latin typeface="Times New Roman"/>
              <a:ea typeface="Times New Roman"/>
              <a:cs typeface="Times New Roman"/>
            </a:endParaRPr>
          </a:p>
          <a:p>
            <a:pPr lvl="1">
              <a:defRPr/>
            </a:pPr>
            <a:r>
              <a:rPr sz="2600" b="1" i="0" u="none">
                <a:solidFill>
                  <a:srgbClr val="000000"/>
                </a:solidFill>
                <a:latin typeface="Times New Roman"/>
                <a:ea typeface="Times New Roman"/>
                <a:cs typeface="Times New Roman"/>
              </a:rPr>
              <a:t>Solution:</a:t>
            </a:r>
            <a:r>
              <a:rPr sz="2600" b="0" i="0" u="none">
                <a:solidFill>
                  <a:srgbClr val="000000"/>
                </a:solidFill>
                <a:latin typeface="Times New Roman"/>
                <a:ea typeface="Times New Roman"/>
                <a:cs typeface="Times New Roman"/>
              </a:rPr>
              <a:t> AI triage quickly evaluates symptoms and advises whether to see a doctor, try home care, or monitor.</a:t>
            </a:r>
            <a:endParaRPr sz="2600"/>
          </a:p>
          <a:p>
            <a:pPr>
              <a:defRPr/>
            </a:pPr>
            <a:r>
              <a:rPr sz="2600" b="1" i="0" u="none">
                <a:solidFill>
                  <a:srgbClr val="000000"/>
                </a:solidFill>
                <a:latin typeface="Times New Roman"/>
                <a:ea typeface="Times New Roman"/>
                <a:cs typeface="Times New Roman"/>
              </a:rPr>
              <a:t>2. Timely Doctor Access</a:t>
            </a:r>
            <a:endParaRPr sz="2600"/>
          </a:p>
          <a:p>
            <a:pPr lvl="1">
              <a:defRPr/>
            </a:pPr>
            <a:r>
              <a:rPr sz="2600" b="1" i="0" u="none">
                <a:solidFill>
                  <a:srgbClr val="000000"/>
                </a:solidFill>
                <a:latin typeface="Times New Roman"/>
                <a:ea typeface="Times New Roman"/>
                <a:cs typeface="Times New Roman"/>
              </a:rPr>
              <a:t>Problem:</a:t>
            </a:r>
            <a:r>
              <a:rPr sz="2600" b="0" i="0" u="none">
                <a:solidFill>
                  <a:srgbClr val="000000"/>
                </a:solidFill>
                <a:latin typeface="Times New Roman"/>
                <a:ea typeface="Times New Roman"/>
                <a:cs typeface="Times New Roman"/>
              </a:rPr>
              <a:t> Delays in getting medical attention.</a:t>
            </a:r>
            <a:endParaRPr sz="2600"/>
          </a:p>
          <a:p>
            <a:pPr lvl="1">
              <a:defRPr/>
            </a:pPr>
            <a:r>
              <a:rPr sz="2600" b="1" i="0" u="none">
                <a:solidFill>
                  <a:srgbClr val="000000"/>
                </a:solidFill>
                <a:latin typeface="Times New Roman"/>
                <a:ea typeface="Times New Roman"/>
                <a:cs typeface="Times New Roman"/>
              </a:rPr>
              <a:t>Solution:</a:t>
            </a:r>
            <a:r>
              <a:rPr sz="2600" b="0" i="0" u="none">
                <a:solidFill>
                  <a:srgbClr val="000000"/>
                </a:solidFill>
                <a:latin typeface="Times New Roman"/>
                <a:ea typeface="Times New Roman"/>
                <a:cs typeface="Times New Roman"/>
              </a:rPr>
              <a:t> Automatically connects patients to doctors for severe cases or appointments, reducing waiting time.</a:t>
            </a:r>
            <a:endParaRPr sz="2600"/>
          </a:p>
          <a:p>
            <a:pPr>
              <a:defRPr/>
            </a:pPr>
            <a:r>
              <a:rPr sz="2600" b="1" i="0" u="none">
                <a:solidFill>
                  <a:srgbClr val="000000"/>
                </a:solidFill>
                <a:latin typeface="Times New Roman"/>
                <a:ea typeface="Times New Roman"/>
                <a:cs typeface="Times New Roman"/>
              </a:rPr>
              <a:t>3. Personalized Care Guidance</a:t>
            </a:r>
            <a:endParaRPr sz="2600"/>
          </a:p>
          <a:p>
            <a:pPr lvl="1">
              <a:defRPr/>
            </a:pPr>
            <a:r>
              <a:rPr sz="2600" b="1" i="0" u="none">
                <a:solidFill>
                  <a:srgbClr val="000000"/>
                </a:solidFill>
                <a:latin typeface="Times New Roman"/>
                <a:ea typeface="Times New Roman"/>
                <a:cs typeface="Times New Roman"/>
              </a:rPr>
              <a:t>Problem:</a:t>
            </a:r>
            <a:r>
              <a:rPr sz="2600" b="0" i="0" u="none">
                <a:solidFill>
                  <a:srgbClr val="000000"/>
                </a:solidFill>
                <a:latin typeface="Times New Roman"/>
                <a:ea typeface="Times New Roman"/>
                <a:cs typeface="Times New Roman"/>
              </a:rPr>
              <a:t> Generic health advice doesn’t fit everyone.</a:t>
            </a:r>
            <a:endParaRPr sz="2600"/>
          </a:p>
          <a:p>
            <a:pPr lvl="1">
              <a:defRPr/>
            </a:pPr>
            <a:r>
              <a:rPr sz="2600" b="1" i="0" u="none">
                <a:solidFill>
                  <a:srgbClr val="000000"/>
                </a:solidFill>
                <a:latin typeface="Times New Roman"/>
                <a:ea typeface="Times New Roman"/>
                <a:cs typeface="Times New Roman"/>
              </a:rPr>
              <a:t>Solution:</a:t>
            </a:r>
            <a:r>
              <a:rPr sz="2600" b="0" i="0" u="none">
                <a:solidFill>
                  <a:srgbClr val="000000"/>
                </a:solidFill>
                <a:latin typeface="Times New Roman"/>
                <a:ea typeface="Times New Roman"/>
                <a:cs typeface="Times New Roman"/>
              </a:rPr>
              <a:t> Offers tailored guidance based on age, medical history, and symptom severity.</a:t>
            </a:r>
            <a:endParaRPr sz="2600"/>
          </a:p>
          <a:p>
            <a:pPr>
              <a:defRPr/>
            </a:pPr>
            <a:r>
              <a:rPr sz="2600" b="1" i="0" u="none">
                <a:solidFill>
                  <a:srgbClr val="000000"/>
                </a:solidFill>
                <a:latin typeface="Times New Roman"/>
                <a:ea typeface="Times New Roman"/>
                <a:cs typeface="Times New Roman"/>
              </a:rPr>
              <a:t>4. Efficient Healthcare Management</a:t>
            </a:r>
            <a:endParaRPr sz="2600"/>
          </a:p>
          <a:p>
            <a:pPr lvl="1">
              <a:defRPr/>
            </a:pPr>
            <a:r>
              <a:rPr sz="2600" b="1" i="0" u="none">
                <a:solidFill>
                  <a:srgbClr val="000000"/>
                </a:solidFill>
                <a:latin typeface="Times New Roman"/>
                <a:ea typeface="Times New Roman"/>
                <a:cs typeface="Times New Roman"/>
              </a:rPr>
              <a:t>Problem:</a:t>
            </a:r>
            <a:r>
              <a:rPr sz="2600" b="0" i="0" u="none">
                <a:solidFill>
                  <a:srgbClr val="000000"/>
                </a:solidFill>
                <a:latin typeface="Times New Roman"/>
                <a:ea typeface="Times New Roman"/>
                <a:cs typeface="Times New Roman"/>
              </a:rPr>
              <a:t> Doctors’ time is wasted on minor issues.</a:t>
            </a:r>
            <a:endParaRPr sz="2600"/>
          </a:p>
          <a:p>
            <a:pPr lvl="1">
              <a:defRPr/>
            </a:pPr>
            <a:r>
              <a:rPr sz="2600" b="1" i="0" u="none">
                <a:solidFill>
                  <a:srgbClr val="000000"/>
                </a:solidFill>
                <a:latin typeface="Times New Roman"/>
                <a:ea typeface="Times New Roman"/>
                <a:cs typeface="Times New Roman"/>
              </a:rPr>
              <a:t>Solution:</a:t>
            </a:r>
            <a:r>
              <a:rPr sz="2600" b="0" i="0" u="none">
                <a:solidFill>
                  <a:srgbClr val="000000"/>
                </a:solidFill>
                <a:latin typeface="Times New Roman"/>
                <a:ea typeface="Times New Roman"/>
                <a:cs typeface="Times New Roman"/>
              </a:rPr>
              <a:t> AI filters mild cases, letting doctors focus on critical patients.</a:t>
            </a:r>
            <a:endParaRPr sz="2600"/>
          </a:p>
          <a:p>
            <a:pPr>
              <a:defRPr/>
            </a:pPr>
            <a:r>
              <a:rPr sz="2600" b="1" i="0" u="none">
                <a:solidFill>
                  <a:srgbClr val="000000"/>
                </a:solidFill>
                <a:latin typeface="Times New Roman"/>
                <a:ea typeface="Times New Roman"/>
                <a:cs typeface="Times New Roman"/>
              </a:rPr>
              <a:t>5. Health Monitoring &amp; Records</a:t>
            </a:r>
            <a:endParaRPr sz="2600"/>
          </a:p>
          <a:p>
            <a:pPr lvl="1">
              <a:defRPr/>
            </a:pPr>
            <a:r>
              <a:rPr sz="2600" b="1" i="0" u="none">
                <a:solidFill>
                  <a:srgbClr val="000000"/>
                </a:solidFill>
                <a:latin typeface="Times New Roman"/>
                <a:ea typeface="Times New Roman"/>
                <a:cs typeface="Times New Roman"/>
              </a:rPr>
              <a:t>Problem:</a:t>
            </a:r>
            <a:r>
              <a:rPr sz="2600" b="0" i="0" u="none">
                <a:solidFill>
                  <a:srgbClr val="000000"/>
                </a:solidFill>
                <a:latin typeface="Times New Roman"/>
                <a:ea typeface="Times New Roman"/>
                <a:cs typeface="Times New Roman"/>
              </a:rPr>
              <a:t> Patients struggle to keep track of health data.</a:t>
            </a:r>
            <a:endParaRPr sz="2600"/>
          </a:p>
          <a:p>
            <a:pPr lvl="1">
              <a:defRPr/>
            </a:pPr>
            <a:r>
              <a:rPr sz="2600" b="1" i="0" u="none">
                <a:solidFill>
                  <a:srgbClr val="000000"/>
                </a:solidFill>
                <a:latin typeface="Times New Roman"/>
                <a:ea typeface="Times New Roman"/>
                <a:cs typeface="Times New Roman"/>
              </a:rPr>
              <a:t>Solution:</a:t>
            </a:r>
            <a:r>
              <a:rPr sz="2600" b="0" i="0" u="none">
                <a:solidFill>
                  <a:srgbClr val="000000"/>
                </a:solidFill>
                <a:latin typeface="Times New Roman"/>
                <a:ea typeface="Times New Roman"/>
                <a:cs typeface="Times New Roman"/>
              </a:rPr>
              <a:t> Stores health records, tracks symptoms, medications, and doctor visits in one app.</a:t>
            </a:r>
            <a:endParaRPr sz="2600"/>
          </a:p>
          <a:p>
            <a:pPr>
              <a:defRPr/>
            </a:pPr>
            <a:r>
              <a:rPr sz="2600" b="1" i="0" u="none">
                <a:solidFill>
                  <a:srgbClr val="000000"/>
                </a:solidFill>
                <a:latin typeface="Times New Roman"/>
                <a:ea typeface="Times New Roman"/>
                <a:cs typeface="Times New Roman"/>
              </a:rPr>
              <a:t>6. Preventive Health Insights</a:t>
            </a:r>
            <a:endParaRPr sz="2600"/>
          </a:p>
          <a:p>
            <a:pPr lvl="1">
              <a:defRPr/>
            </a:pPr>
            <a:r>
              <a:rPr sz="2600" b="1" i="0" u="none">
                <a:solidFill>
                  <a:srgbClr val="000000"/>
                </a:solidFill>
                <a:latin typeface="Times New Roman"/>
                <a:ea typeface="Times New Roman"/>
                <a:cs typeface="Times New Roman"/>
              </a:rPr>
              <a:t>Problem:</a:t>
            </a:r>
            <a:r>
              <a:rPr sz="2600" b="0" i="0" u="none">
                <a:solidFill>
                  <a:srgbClr val="000000"/>
                </a:solidFill>
                <a:latin typeface="Times New Roman"/>
                <a:ea typeface="Times New Roman"/>
                <a:cs typeface="Times New Roman"/>
              </a:rPr>
              <a:t> People often neglect preventive care.</a:t>
            </a:r>
            <a:endParaRPr sz="2600"/>
          </a:p>
          <a:p>
            <a:pPr lvl="1">
              <a:defRPr/>
            </a:pPr>
            <a:r>
              <a:rPr sz="2600" b="1" i="0" u="none">
                <a:solidFill>
                  <a:srgbClr val="000000"/>
                </a:solidFill>
                <a:latin typeface="Times New Roman"/>
                <a:ea typeface="Times New Roman"/>
                <a:cs typeface="Times New Roman"/>
              </a:rPr>
              <a:t>Solution:</a:t>
            </a:r>
            <a:r>
              <a:rPr sz="2600" b="0" i="0" u="none">
                <a:solidFill>
                  <a:srgbClr val="000000"/>
                </a:solidFill>
                <a:latin typeface="Times New Roman"/>
                <a:ea typeface="Times New Roman"/>
                <a:cs typeface="Times New Roman"/>
              </a:rPr>
              <a:t> App suggests preventive measures, lifestyle tips, and reminders for checkups.</a:t>
            </a:r>
            <a:endParaRPr sz="2600"/>
          </a:p>
          <a:p>
            <a:pPr>
              <a:defRPr/>
            </a:pPr>
            <a:r>
              <a:rPr sz="2600" b="1" i="0" u="none">
                <a:solidFill>
                  <a:srgbClr val="000000"/>
                </a:solidFill>
                <a:latin typeface="Times New Roman"/>
                <a:ea typeface="Times New Roman"/>
                <a:cs typeface="Times New Roman"/>
              </a:rPr>
              <a:t>7. Data-Driven Decisions</a:t>
            </a:r>
            <a:endParaRPr sz="2600"/>
          </a:p>
          <a:p>
            <a:pPr lvl="1">
              <a:defRPr/>
            </a:pPr>
            <a:r>
              <a:rPr sz="2600" b="1" i="0" u="none">
                <a:solidFill>
                  <a:srgbClr val="000000"/>
                </a:solidFill>
                <a:latin typeface="Times New Roman"/>
                <a:ea typeface="Times New Roman"/>
                <a:cs typeface="Times New Roman"/>
              </a:rPr>
              <a:t>Problem:</a:t>
            </a:r>
            <a:r>
              <a:rPr sz="2600" b="0" i="0" u="none">
                <a:solidFill>
                  <a:srgbClr val="000000"/>
                </a:solidFill>
                <a:latin typeface="Times New Roman"/>
                <a:ea typeface="Times New Roman"/>
                <a:cs typeface="Times New Roman"/>
              </a:rPr>
              <a:t> Lack of insights into health trends.</a:t>
            </a:r>
            <a:endParaRPr sz="2600"/>
          </a:p>
          <a:p>
            <a:pPr lvl="1">
              <a:defRPr/>
            </a:pPr>
            <a:r>
              <a:rPr sz="2600" b="1" i="0" u="none">
                <a:solidFill>
                  <a:srgbClr val="000000"/>
                </a:solidFill>
                <a:latin typeface="Times New Roman"/>
                <a:ea typeface="Times New Roman"/>
                <a:cs typeface="Times New Roman"/>
              </a:rPr>
              <a:t>Solution:</a:t>
            </a:r>
            <a:r>
              <a:rPr sz="2600" b="0" i="0" u="none">
                <a:solidFill>
                  <a:srgbClr val="000000"/>
                </a:solidFill>
                <a:latin typeface="Times New Roman"/>
                <a:ea typeface="Times New Roman"/>
                <a:cs typeface="Times New Roman"/>
              </a:rPr>
              <a:t> Aggregated, anonymized data can help identify patterns, risks, and early warnings.</a:t>
            </a:r>
            <a:endParaRPr sz="26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864033388" name="Group 2"/>
          <p:cNvGrpSpPr/>
          <p:nvPr/>
        </p:nvGrpSpPr>
        <p:grpSpPr bwMode="auto">
          <a:xfrm>
            <a:off x="0" y="0"/>
            <a:ext cx="18288000" cy="10972800"/>
            <a:chOff x="0" y="0"/>
            <a:chExt cx="24383999" cy="14630400"/>
          </a:xfrm>
        </p:grpSpPr>
        <p:sp>
          <p:nvSpPr>
            <p:cNvPr id="1201603514" name="Freeform 3"/>
            <p:cNvSpPr/>
            <p:nvPr/>
          </p:nvSpPr>
          <p:spPr bwMode="auto">
            <a:xfrm>
              <a:off x="19507199" y="9753599"/>
              <a:ext cx="4876799" cy="4876799"/>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154821430" name="Freeform 4"/>
            <p:cNvSpPr/>
            <p:nvPr/>
          </p:nvSpPr>
          <p:spPr bwMode="auto">
            <a:xfrm>
              <a:off x="0" y="0"/>
              <a:ext cx="4876799" cy="4876799"/>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074472999" name="Freeform 5"/>
            <p:cNvSpPr/>
            <p:nvPr/>
          </p:nvSpPr>
          <p:spPr bwMode="auto">
            <a:xfrm>
              <a:off x="0" y="9753599"/>
              <a:ext cx="4876799" cy="4876799"/>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082642123" name="Freeform 6"/>
            <p:cNvSpPr/>
            <p:nvPr/>
          </p:nvSpPr>
          <p:spPr bwMode="auto">
            <a:xfrm>
              <a:off x="0" y="4876799"/>
              <a:ext cx="4876799" cy="4876799"/>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17000"/>
              </a:blip>
              <a:stretch/>
            </a:blipFill>
          </p:spPr>
        </p:sp>
        <p:sp>
          <p:nvSpPr>
            <p:cNvPr id="1241727028" name="Freeform 7"/>
            <p:cNvSpPr/>
            <p:nvPr/>
          </p:nvSpPr>
          <p:spPr bwMode="auto">
            <a:xfrm>
              <a:off x="9753599" y="0"/>
              <a:ext cx="4876799" cy="4876799"/>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2000510753" name="Freeform 8"/>
            <p:cNvSpPr/>
            <p:nvPr/>
          </p:nvSpPr>
          <p:spPr bwMode="auto">
            <a:xfrm>
              <a:off x="9753599" y="9753599"/>
              <a:ext cx="4876799" cy="4876799"/>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769456889" name="Freeform 9"/>
            <p:cNvSpPr/>
            <p:nvPr/>
          </p:nvSpPr>
          <p:spPr bwMode="auto">
            <a:xfrm>
              <a:off x="9753599" y="4884140"/>
              <a:ext cx="4876799" cy="4876799"/>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515956323" name="Freeform 10"/>
            <p:cNvSpPr/>
            <p:nvPr/>
          </p:nvSpPr>
          <p:spPr bwMode="auto">
            <a:xfrm>
              <a:off x="19507199" y="0"/>
              <a:ext cx="4876799" cy="4876799"/>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469332689" name="Freeform 11"/>
            <p:cNvSpPr/>
            <p:nvPr/>
          </p:nvSpPr>
          <p:spPr bwMode="auto">
            <a:xfrm>
              <a:off x="19507199" y="4876799"/>
              <a:ext cx="4876799" cy="4876799"/>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17000"/>
              </a:blip>
              <a:stretch/>
            </a:blipFill>
          </p:spPr>
        </p:sp>
        <p:sp>
          <p:nvSpPr>
            <p:cNvPr id="533430125" name="Freeform 12"/>
            <p:cNvSpPr/>
            <p:nvPr/>
          </p:nvSpPr>
          <p:spPr bwMode="auto">
            <a:xfrm>
              <a:off x="4876799" y="0"/>
              <a:ext cx="4876799" cy="4876799"/>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96054319" name="Freeform 13"/>
            <p:cNvSpPr/>
            <p:nvPr/>
          </p:nvSpPr>
          <p:spPr bwMode="auto">
            <a:xfrm>
              <a:off x="4876799" y="9753599"/>
              <a:ext cx="4876799" cy="4876799"/>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431710321" name="Freeform 14"/>
            <p:cNvSpPr/>
            <p:nvPr/>
          </p:nvSpPr>
          <p:spPr bwMode="auto">
            <a:xfrm>
              <a:off x="4876799" y="4884140"/>
              <a:ext cx="4876799" cy="4876799"/>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303063364" name="Freeform 15"/>
            <p:cNvSpPr/>
            <p:nvPr/>
          </p:nvSpPr>
          <p:spPr bwMode="auto">
            <a:xfrm>
              <a:off x="14630400" y="0"/>
              <a:ext cx="4876799" cy="4876799"/>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202884609" name="Freeform 16"/>
            <p:cNvSpPr/>
            <p:nvPr/>
          </p:nvSpPr>
          <p:spPr bwMode="auto">
            <a:xfrm>
              <a:off x="14630400" y="9753599"/>
              <a:ext cx="4876799" cy="4876799"/>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63736123" name="Freeform 17"/>
            <p:cNvSpPr/>
            <p:nvPr/>
          </p:nvSpPr>
          <p:spPr bwMode="auto">
            <a:xfrm>
              <a:off x="14630400" y="4876799"/>
              <a:ext cx="4876799" cy="4876799"/>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grpSp>
      <p:grpSp>
        <p:nvGrpSpPr>
          <p:cNvPr id="1188626020" name="Group 18"/>
          <p:cNvGrpSpPr/>
          <p:nvPr/>
        </p:nvGrpSpPr>
        <p:grpSpPr bwMode="auto">
          <a:xfrm>
            <a:off x="14407419" y="134404"/>
            <a:ext cx="3519315" cy="934144"/>
            <a:chOff x="0" y="0"/>
            <a:chExt cx="4692420" cy="1245526"/>
          </a:xfrm>
        </p:grpSpPr>
        <p:sp>
          <p:nvSpPr>
            <p:cNvPr id="1841218775" name="Freeform 19"/>
            <p:cNvSpPr/>
            <p:nvPr/>
          </p:nvSpPr>
          <p:spPr bwMode="auto">
            <a:xfrm>
              <a:off x="1643290" y="233035"/>
              <a:ext cx="1118835" cy="863152"/>
            </a:xfrm>
            <a:custGeom>
              <a:avLst/>
              <a:gdLst/>
              <a:ahLst/>
              <a:cxnLst/>
              <a:rect l="l" t="t" r="r" b="b"/>
              <a:pathLst>
                <a:path w="1118835" h="863153" fill="norm" stroke="1" extrusionOk="0">
                  <a:moveTo>
                    <a:pt x="0" y="0"/>
                  </a:moveTo>
                  <a:lnTo>
                    <a:pt x="1118835" y="0"/>
                  </a:lnTo>
                  <a:lnTo>
                    <a:pt x="1118835" y="863153"/>
                  </a:lnTo>
                  <a:lnTo>
                    <a:pt x="0" y="863153"/>
                  </a:lnTo>
                  <a:lnTo>
                    <a:pt x="0" y="0"/>
                  </a:lnTo>
                  <a:close/>
                </a:path>
              </a:pathLst>
            </a:custGeom>
            <a:blipFill>
              <a:blip r:embed="rId5"/>
              <a:stretch/>
            </a:blipFill>
          </p:spPr>
        </p:sp>
        <p:sp>
          <p:nvSpPr>
            <p:cNvPr id="435193476" name="Freeform 20"/>
            <p:cNvSpPr/>
            <p:nvPr/>
          </p:nvSpPr>
          <p:spPr bwMode="auto">
            <a:xfrm>
              <a:off x="0" y="0"/>
              <a:ext cx="1292660" cy="1096188"/>
            </a:xfrm>
            <a:custGeom>
              <a:avLst/>
              <a:gdLst/>
              <a:ahLst/>
              <a:cxnLst/>
              <a:rect l="l" t="t" r="r" b="b"/>
              <a:pathLst>
                <a:path w="1292661" h="1096189" fill="norm" stroke="1" extrusionOk="0">
                  <a:moveTo>
                    <a:pt x="0" y="0"/>
                  </a:moveTo>
                  <a:lnTo>
                    <a:pt x="1292661" y="0"/>
                  </a:lnTo>
                  <a:lnTo>
                    <a:pt x="1292661" y="1096189"/>
                  </a:lnTo>
                  <a:lnTo>
                    <a:pt x="0" y="1096189"/>
                  </a:lnTo>
                  <a:lnTo>
                    <a:pt x="0" y="0"/>
                  </a:lnTo>
                  <a:close/>
                </a:path>
              </a:pathLst>
            </a:custGeom>
            <a:blipFill>
              <a:blip r:embed="rId6"/>
              <a:stretch/>
            </a:blipFill>
          </p:spPr>
        </p:sp>
        <p:sp>
          <p:nvSpPr>
            <p:cNvPr id="634324654" name="Freeform 21"/>
            <p:cNvSpPr/>
            <p:nvPr/>
          </p:nvSpPr>
          <p:spPr bwMode="auto">
            <a:xfrm>
              <a:off x="2905209" y="200390"/>
              <a:ext cx="1787211" cy="1045134"/>
            </a:xfrm>
            <a:custGeom>
              <a:avLst/>
              <a:gdLst/>
              <a:ahLst/>
              <a:cxnLst/>
              <a:rect l="l" t="t" r="r" b="b"/>
              <a:pathLst>
                <a:path w="1787211" h="1045135" fill="norm" stroke="1" extrusionOk="0">
                  <a:moveTo>
                    <a:pt x="0" y="0"/>
                  </a:moveTo>
                  <a:lnTo>
                    <a:pt x="1787211" y="0"/>
                  </a:lnTo>
                  <a:lnTo>
                    <a:pt x="1787211" y="1045136"/>
                  </a:lnTo>
                  <a:lnTo>
                    <a:pt x="0" y="1045136"/>
                  </a:lnTo>
                  <a:lnTo>
                    <a:pt x="0" y="0"/>
                  </a:lnTo>
                  <a:close/>
                </a:path>
              </a:pathLst>
            </a:custGeom>
            <a:blipFill>
              <a:blip r:embed="rId7"/>
              <a:stretch>
                <a:fillRect l="-15589" t="-14282" r="-14525" b="0"/>
              </a:stretch>
            </a:blipFill>
          </p:spPr>
        </p:sp>
      </p:grpSp>
      <p:grpSp>
        <p:nvGrpSpPr>
          <p:cNvPr id="1901863275" name="Group 22"/>
          <p:cNvGrpSpPr/>
          <p:nvPr/>
        </p:nvGrpSpPr>
        <p:grpSpPr bwMode="auto">
          <a:xfrm>
            <a:off x="545874" y="-799310"/>
            <a:ext cx="965650" cy="1867861"/>
            <a:chOff x="0" y="0"/>
            <a:chExt cx="1287533" cy="2490481"/>
          </a:xfrm>
        </p:grpSpPr>
        <p:grpSp>
          <p:nvGrpSpPr>
            <p:cNvPr id="1972725844" name="Group 23"/>
            <p:cNvGrpSpPr/>
            <p:nvPr/>
          </p:nvGrpSpPr>
          <p:grpSpPr bwMode="auto">
            <a:xfrm>
              <a:off x="79935" y="0"/>
              <a:ext cx="1169955" cy="2490481"/>
              <a:chOff x="0" y="0"/>
              <a:chExt cx="249523" cy="531162"/>
            </a:xfrm>
          </p:grpSpPr>
          <p:sp>
            <p:nvSpPr>
              <p:cNvPr id="686722285" name="Freeform 24"/>
              <p:cNvSpPr/>
              <p:nvPr/>
            </p:nvSpPr>
            <p:spPr bwMode="auto">
              <a:xfrm>
                <a:off x="0" y="0"/>
                <a:ext cx="249523" cy="531162"/>
              </a:xfrm>
              <a:custGeom>
                <a:avLst/>
                <a:gdLst/>
                <a:ahLst/>
                <a:cxnLst/>
                <a:rect l="l" t="t" r="r" b="b"/>
                <a:pathLst>
                  <a:path w="249524" h="531162" fill="norm" stroke="1" extrusionOk="0">
                    <a:moveTo>
                      <a:pt x="124762" y="0"/>
                    </a:moveTo>
                    <a:lnTo>
                      <a:pt x="124762" y="0"/>
                    </a:lnTo>
                    <a:cubicBezTo>
                      <a:pt x="193666" y="0"/>
                      <a:pt x="249524" y="55858"/>
                      <a:pt x="249524" y="124762"/>
                    </a:cubicBezTo>
                    <a:lnTo>
                      <a:pt x="249524" y="406400"/>
                    </a:lnTo>
                    <a:cubicBezTo>
                      <a:pt x="249524" y="439489"/>
                      <a:pt x="236380" y="471223"/>
                      <a:pt x="212982" y="494620"/>
                    </a:cubicBezTo>
                    <a:cubicBezTo>
                      <a:pt x="189585" y="518018"/>
                      <a:pt x="157851" y="531162"/>
                      <a:pt x="124762" y="531162"/>
                    </a:cubicBezTo>
                    <a:lnTo>
                      <a:pt x="124762" y="531162"/>
                    </a:lnTo>
                    <a:cubicBezTo>
                      <a:pt x="91673" y="531162"/>
                      <a:pt x="59939" y="518018"/>
                      <a:pt x="36542" y="494620"/>
                    </a:cubicBezTo>
                    <a:cubicBezTo>
                      <a:pt x="13145" y="471223"/>
                      <a:pt x="0" y="439489"/>
                      <a:pt x="0" y="406400"/>
                    </a:cubicBezTo>
                    <a:lnTo>
                      <a:pt x="0" y="124762"/>
                    </a:lnTo>
                    <a:cubicBezTo>
                      <a:pt x="0" y="91673"/>
                      <a:pt x="13145" y="59939"/>
                      <a:pt x="36542" y="36542"/>
                    </a:cubicBezTo>
                    <a:cubicBezTo>
                      <a:pt x="59939" y="13145"/>
                      <a:pt x="91673" y="0"/>
                      <a:pt x="124762" y="0"/>
                    </a:cubicBezTo>
                    <a:close/>
                  </a:path>
                </a:pathLst>
              </a:custGeom>
              <a:solidFill>
                <a:srgbClr val="030303"/>
              </a:solidFill>
            </p:spPr>
          </p:sp>
          <p:sp>
            <p:nvSpPr>
              <p:cNvPr id="206350084" name="TextBox 25"/>
              <p:cNvSpPr txBox="1"/>
              <p:nvPr/>
            </p:nvSpPr>
            <p:spPr bwMode="auto">
              <a:xfrm>
                <a:off x="0" y="-66674"/>
                <a:ext cx="249523" cy="597836"/>
              </a:xfrm>
              <a:prstGeom prst="rect">
                <a:avLst/>
              </a:prstGeom>
              <a:grpFill/>
            </p:spPr>
            <p:txBody>
              <a:bodyPr lIns="50799" tIns="50799" rIns="50799" bIns="50799" rtlCol="0" anchor="ctr"/>
              <a:lstStyle/>
              <a:p>
                <a:pPr algn="ctr">
                  <a:lnSpc>
                    <a:spcPts val="4758"/>
                  </a:lnSpc>
                  <a:defRPr/>
                </a:pPr>
                <a:endParaRPr/>
              </a:p>
            </p:txBody>
          </p:sp>
        </p:grpSp>
        <p:sp>
          <p:nvSpPr>
            <p:cNvPr id="111848411" name="Freeform 26"/>
            <p:cNvSpPr/>
            <p:nvPr/>
          </p:nvSpPr>
          <p:spPr bwMode="auto">
            <a:xfrm>
              <a:off x="0" y="1293423"/>
              <a:ext cx="1287533" cy="1163490"/>
            </a:xfrm>
            <a:custGeom>
              <a:avLst/>
              <a:gdLst/>
              <a:ahLst/>
              <a:cxnLst/>
              <a:rect l="l" t="t" r="r" b="b"/>
              <a:pathLst>
                <a:path w="1287534" h="1163491" fill="norm" stroke="1" extrusionOk="0">
                  <a:moveTo>
                    <a:pt x="0" y="0"/>
                  </a:moveTo>
                  <a:lnTo>
                    <a:pt x="1287534" y="0"/>
                  </a:lnTo>
                  <a:lnTo>
                    <a:pt x="1287534" y="1163490"/>
                  </a:lnTo>
                  <a:lnTo>
                    <a:pt x="0" y="1163490"/>
                  </a:lnTo>
                  <a:lnTo>
                    <a:pt x="0" y="0"/>
                  </a:lnTo>
                  <a:close/>
                </a:path>
              </a:pathLst>
            </a:custGeom>
            <a:blipFill>
              <a:blip r:embed="rId8"/>
              <a:stretch>
                <a:fillRect l="0" t="-489" r="0" b="-489"/>
              </a:stretch>
            </a:blipFill>
          </p:spPr>
        </p:sp>
      </p:grpSp>
      <p:sp>
        <p:nvSpPr>
          <p:cNvPr id="299733468" name="TextBox 27"/>
          <p:cNvSpPr txBox="1"/>
          <p:nvPr/>
        </p:nvSpPr>
        <p:spPr bwMode="auto">
          <a:xfrm>
            <a:off x="463892" y="9719500"/>
            <a:ext cx="5201001" cy="333699"/>
          </a:xfrm>
          <a:prstGeom prst="rect">
            <a:avLst/>
          </a:prstGeom>
        </p:spPr>
        <p:txBody>
          <a:bodyPr lIns="0" tIns="0" rIns="0" bIns="0" rtlCol="0" anchor="t">
            <a:spAutoFit/>
          </a:bodyPr>
          <a:lstStyle/>
          <a:p>
            <a:pPr algn="ctr">
              <a:lnSpc>
                <a:spcPts val="2609"/>
              </a:lnSpc>
              <a:defRPr/>
            </a:pPr>
            <a:r>
              <a:rPr lang="en-US" sz="1850">
                <a:solidFill>
                  <a:srgbClr val="000000"/>
                </a:solidFill>
                <a:latin typeface="Poppins"/>
                <a:ea typeface="Poppins"/>
                <a:cs typeface="Poppins"/>
              </a:rPr>
              <a:t>Central India Hackathon 3.0 • SDG 3 &amp; SDG 9</a:t>
            </a:r>
            <a:endParaRPr/>
          </a:p>
        </p:txBody>
      </p:sp>
      <p:sp>
        <p:nvSpPr>
          <p:cNvPr id="1449331711" name="TextBox 28"/>
          <p:cNvSpPr txBox="1"/>
          <p:nvPr/>
        </p:nvSpPr>
        <p:spPr bwMode="auto">
          <a:xfrm>
            <a:off x="4175470" y="105752"/>
            <a:ext cx="9625729" cy="1220067"/>
          </a:xfrm>
          <a:prstGeom prst="rect">
            <a:avLst/>
          </a:prstGeom>
        </p:spPr>
        <p:txBody>
          <a:bodyPr wrap="square" lIns="0" tIns="0" rIns="0" bIns="0" rtlCol="0" anchor="t">
            <a:spAutoFit/>
          </a:bodyPr>
          <a:lstStyle/>
          <a:p>
            <a:pPr algn="ctr">
              <a:lnSpc>
                <a:spcPts val="9603"/>
              </a:lnSpc>
              <a:defRPr/>
            </a:pPr>
            <a:r>
              <a:rPr lang="en-US" sz="6850" b="1">
                <a:solidFill>
                  <a:srgbClr val="000000"/>
                </a:solidFill>
                <a:latin typeface="Poppins Bold"/>
                <a:ea typeface="Poppins Bold"/>
                <a:cs typeface="Poppins Bold"/>
              </a:rPr>
              <a:t>INNOVATIVE FACTOR</a:t>
            </a:r>
            <a:endParaRPr/>
          </a:p>
        </p:txBody>
      </p:sp>
      <p:sp>
        <p:nvSpPr>
          <p:cNvPr id="167198815" name="TextBox 29"/>
          <p:cNvSpPr txBox="1"/>
          <p:nvPr/>
        </p:nvSpPr>
        <p:spPr bwMode="auto">
          <a:xfrm flipH="0" flipV="0">
            <a:off x="1382109" y="1476622"/>
            <a:ext cx="15203452" cy="396599"/>
          </a:xfrm>
          <a:prstGeom prst="rect">
            <a:avLst/>
          </a:prstGeom>
        </p:spPr>
        <p:txBody>
          <a:bodyPr lIns="0" tIns="0" rIns="0" bIns="0" rtlCol="0" anchor="t">
            <a:spAutoFit/>
          </a:bodyPr>
          <a:lstStyle/>
          <a:p>
            <a:pPr>
              <a:defRPr/>
            </a:pPr>
            <a:r>
              <a:rPr sz="2600" b="1" i="0" u="none">
                <a:solidFill>
                  <a:srgbClr val="000000"/>
                </a:solidFill>
                <a:latin typeface="Times New Roman"/>
                <a:ea typeface="Times New Roman"/>
                <a:cs typeface="Times New Roman"/>
              </a:rPr>
              <a:t>“From symptoms to solutions—fast, personalized care powered by AI and expert doctors.”</a:t>
            </a:r>
            <a:endParaRPr sz="2600"/>
          </a:p>
        </p:txBody>
      </p:sp>
      <p:sp>
        <p:nvSpPr>
          <p:cNvPr id="231664218" name=""/>
          <p:cNvSpPr txBox="1"/>
          <p:nvPr/>
        </p:nvSpPr>
        <p:spPr bwMode="auto">
          <a:xfrm rot="0" flipH="0" flipV="0">
            <a:off x="955135" y="2342634"/>
            <a:ext cx="16743187" cy="74070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marL="394023" indent="-394023">
              <a:buFont typeface="Arial"/>
              <a:buChar char="•"/>
              <a:defRPr/>
            </a:pPr>
            <a:r>
              <a:rPr sz="3200" b="1" i="0" u="none">
                <a:solidFill>
                  <a:srgbClr val="FF0000"/>
                </a:solidFill>
                <a:latin typeface="Times New Roman"/>
                <a:ea typeface="Times New Roman"/>
                <a:cs typeface="Times New Roman"/>
              </a:rPr>
              <a:t>AI-Driven Triage:</a:t>
            </a:r>
            <a:r>
              <a:rPr sz="3200" b="0" i="0" u="none">
                <a:solidFill>
                  <a:srgbClr val="000000"/>
                </a:solidFill>
                <a:latin typeface="Times New Roman"/>
                <a:ea typeface="Times New Roman"/>
                <a:cs typeface="Times New Roman"/>
              </a:rPr>
              <a:t> Our app connects patients to an AI first, which can assess the severity of the condition before routing them to a doctor. This reduces unnecessary doctor visits and optimizes healthcare resources.</a:t>
            </a:r>
            <a:endParaRPr sz="3200"/>
          </a:p>
          <a:p>
            <a:pPr marL="394023" indent="-394023">
              <a:buFont typeface="Arial"/>
              <a:buChar char="•"/>
              <a:defRPr/>
            </a:pPr>
            <a:r>
              <a:rPr sz="3200" b="1" i="0" u="none">
                <a:solidFill>
                  <a:srgbClr val="FF0000"/>
                </a:solidFill>
                <a:latin typeface="Times New Roman"/>
                <a:ea typeface="Times New Roman"/>
                <a:cs typeface="Times New Roman"/>
              </a:rPr>
              <a:t>Automatic Escalation</a:t>
            </a:r>
            <a:r>
              <a:rPr sz="3200" b="1" i="0" u="none">
                <a:solidFill>
                  <a:srgbClr val="000000"/>
                </a:solidFill>
                <a:latin typeface="Times New Roman"/>
                <a:ea typeface="Times New Roman"/>
                <a:cs typeface="Times New Roman"/>
              </a:rPr>
              <a:t>:</a:t>
            </a:r>
            <a:r>
              <a:rPr sz="3200" b="0" i="0" u="none">
                <a:solidFill>
                  <a:srgbClr val="000000"/>
                </a:solidFill>
                <a:latin typeface="Times New Roman"/>
                <a:ea typeface="Times New Roman"/>
                <a:cs typeface="Times New Roman"/>
              </a:rPr>
              <a:t> If the AI detects a severe condition, the system automatically connects the patient to a doctor. This ensures timely intervention, which is often missing in traditional telemedicine apps.</a:t>
            </a:r>
            <a:endParaRPr sz="3200"/>
          </a:p>
          <a:p>
            <a:pPr marL="394023" indent="-394023">
              <a:buFont typeface="Arial"/>
              <a:buChar char="•"/>
              <a:defRPr/>
            </a:pPr>
            <a:r>
              <a:rPr sz="3200" b="1" i="0" u="none">
                <a:solidFill>
                  <a:srgbClr val="FF0000"/>
                </a:solidFill>
                <a:latin typeface="Times New Roman"/>
                <a:ea typeface="Times New Roman"/>
                <a:cs typeface="Times New Roman"/>
              </a:rPr>
              <a:t>Personalized Care Pathways:</a:t>
            </a:r>
            <a:r>
              <a:rPr sz="3200" b="0" i="0" u="none">
                <a:solidFill>
                  <a:srgbClr val="000000"/>
                </a:solidFill>
                <a:latin typeface="Times New Roman"/>
                <a:ea typeface="Times New Roman"/>
                <a:cs typeface="Times New Roman"/>
              </a:rPr>
              <a:t> Based on symptoms, history, and AI analysis, the app can suggest next steps, preventive care, or home remedies tailored to the patient—making healthcare more personalized.</a:t>
            </a:r>
            <a:endParaRPr sz="3200"/>
          </a:p>
          <a:p>
            <a:pPr marL="394023" indent="-394023">
              <a:buFont typeface="Arial"/>
              <a:buChar char="•"/>
              <a:defRPr/>
            </a:pPr>
            <a:r>
              <a:rPr sz="3200" b="1" i="0" u="none">
                <a:solidFill>
                  <a:srgbClr val="FF0000"/>
                </a:solidFill>
                <a:latin typeface="Times New Roman"/>
                <a:ea typeface="Times New Roman"/>
                <a:cs typeface="Times New Roman"/>
              </a:rPr>
              <a:t>Resource Optimization:</a:t>
            </a:r>
            <a:r>
              <a:rPr sz="3200" b="0" i="0" u="none">
                <a:solidFill>
                  <a:srgbClr val="000000"/>
                </a:solidFill>
                <a:latin typeface="Times New Roman"/>
                <a:ea typeface="Times New Roman"/>
                <a:cs typeface="Times New Roman"/>
              </a:rPr>
              <a:t> By filtering mild cases through AI, doctors’ time is freed for critical cases, improving efficiency in clinics or telehealth setups.</a:t>
            </a:r>
            <a:endParaRPr sz="3200"/>
          </a:p>
          <a:p>
            <a:pPr marL="394023" indent="-394023">
              <a:buFont typeface="Arial"/>
              <a:buChar char="•"/>
              <a:defRPr/>
            </a:pPr>
            <a:r>
              <a:rPr sz="3200" b="1" i="0" u="none">
                <a:solidFill>
                  <a:srgbClr val="FF0000"/>
                </a:solidFill>
                <a:latin typeface="Times New Roman"/>
                <a:ea typeface="Times New Roman"/>
                <a:cs typeface="Times New Roman"/>
              </a:rPr>
              <a:t>Data-Driven Insights:</a:t>
            </a:r>
            <a:r>
              <a:rPr sz="3200" b="0" i="0" u="none">
                <a:solidFill>
                  <a:srgbClr val="000000"/>
                </a:solidFill>
                <a:latin typeface="Times New Roman"/>
                <a:ea typeface="Times New Roman"/>
                <a:cs typeface="Times New Roman"/>
              </a:rPr>
              <a:t> Continuous collection of anonymized health data could help in predicting outbreaks, identifying health trends, and improving overall healthcare delivery.</a:t>
            </a:r>
            <a:endParaRPr sz="3200"/>
          </a:p>
          <a:p>
            <a:pPr marL="394023" indent="-394023">
              <a:buFont typeface="Arial"/>
              <a:buChar char="•"/>
              <a:defRPr/>
            </a:pPr>
            <a:r>
              <a:rPr sz="3200" b="1" i="0" u="none">
                <a:solidFill>
                  <a:srgbClr val="FF0000"/>
                </a:solidFill>
                <a:latin typeface="Times New Roman"/>
                <a:ea typeface="Times New Roman"/>
                <a:cs typeface="Times New Roman"/>
              </a:rPr>
              <a:t>User Convenience &amp; Engagement:</a:t>
            </a:r>
            <a:r>
              <a:rPr sz="3200" b="0" i="0" u="none">
                <a:solidFill>
                  <a:srgbClr val="000000"/>
                </a:solidFill>
                <a:latin typeface="Times New Roman"/>
                <a:ea typeface="Times New Roman"/>
                <a:cs typeface="Times New Roman"/>
              </a:rPr>
              <a:t> Combining AI guidance with seamless doctor access provides a smoother and faster patient experience compared to standard apps that only allow appointments.</a:t>
            </a:r>
            <a:endParaRPr sz="3200"/>
          </a:p>
        </p:txBody>
      </p:sp>
      <p:sp>
        <p:nvSpPr>
          <p:cNvPr id="2146800429" name=""/>
          <p:cNvSpPr txBox="1"/>
          <p:nvPr/>
        </p:nvSpPr>
        <p:spPr bwMode="auto">
          <a:xfrm rot="0" flipH="0" flipV="0">
            <a:off x="20725945" y="1441621"/>
            <a:ext cx="914399" cy="366119"/>
          </a:xfrm>
          <a:prstGeom prst="rect">
            <a:avLst/>
          </a:prstGeom>
          <a:noFill/>
        </p:spPr>
        <p:txBody>
          <a:bodyPr vertOverflow="overflow" horzOverflow="overflow" vert="horz" wrap="none" lIns="91440" tIns="45720" rIns="91440" bIns="45720" numCol="1" spcCol="0" rtlCol="0" fromWordArt="0" anchor="t" anchorCtr="0" forceAA="0" upright="0" compatLnSpc="0">
            <a:spAutoFit/>
          </a:bodyPr>
          <a:p>
            <a:pPr>
              <a:defRPr/>
            </a:pP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7347162" name=""/>
          <p:cNvSpPr/>
          <p:nvPr/>
        </p:nvSpPr>
        <p:spPr bwMode="auto">
          <a:xfrm rot="0" flipH="0" flipV="0">
            <a:off x="463892" y="2239661"/>
            <a:ext cx="7287458" cy="6564526"/>
          </a:xfrm>
          <a:prstGeom prst="ellipse">
            <a:avLst/>
          </a:prstGeom>
        </p:spPr>
        <p:style>
          <a:lnRef idx="2">
            <a:schemeClr val="accent1">
              <a:shade val="50000"/>
            </a:schemeClr>
          </a:lnRef>
          <a:fillRef idx="1">
            <a:schemeClr val="accent1"/>
          </a:fillRef>
          <a:effectRef idx="0">
            <a:schemeClr val="accent1"/>
          </a:effectRef>
          <a:fontRef idx="minor">
            <a:schemeClr val="lt1"/>
          </a:fontRef>
        </p:style>
      </p:sp>
      <p:sp>
        <p:nvSpPr>
          <p:cNvPr id="1570674810" name=""/>
          <p:cNvSpPr/>
          <p:nvPr/>
        </p:nvSpPr>
        <p:spPr bwMode="auto">
          <a:xfrm rot="0" flipH="0" flipV="0">
            <a:off x="8266215" y="2368378"/>
            <a:ext cx="6616013" cy="7414053"/>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sp>
      <p:grpSp>
        <p:nvGrpSpPr>
          <p:cNvPr id="145577888" name="Group 2"/>
          <p:cNvGrpSpPr/>
          <p:nvPr/>
        </p:nvGrpSpPr>
        <p:grpSpPr bwMode="auto">
          <a:xfrm>
            <a:off x="0" y="0"/>
            <a:ext cx="18288000" cy="10972800"/>
            <a:chOff x="0" y="0"/>
            <a:chExt cx="24384000" cy="14630400"/>
          </a:xfrm>
        </p:grpSpPr>
        <p:sp>
          <p:nvSpPr>
            <p:cNvPr id="3" name="Freeform 3"/>
            <p:cNvSpPr/>
            <p:nvPr/>
          </p:nvSpPr>
          <p:spPr bwMode="auto">
            <a:xfrm>
              <a:off x="195072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4" name="Freeform 4"/>
            <p:cNvSpPr/>
            <p:nvPr/>
          </p:nvSpPr>
          <p:spPr bwMode="auto">
            <a:xfrm>
              <a:off x="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5" name="Freeform 5"/>
            <p:cNvSpPr/>
            <p:nvPr/>
          </p:nvSpPr>
          <p:spPr bwMode="auto">
            <a:xfrm>
              <a:off x="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6" name="Freeform 6"/>
            <p:cNvSpPr/>
            <p:nvPr/>
          </p:nvSpPr>
          <p:spPr bwMode="auto">
            <a:xfrm>
              <a:off x="0" y="48768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17000"/>
              </a:blip>
              <a:stretch/>
            </a:blipFill>
          </p:spPr>
        </p:sp>
        <p:sp>
          <p:nvSpPr>
            <p:cNvPr id="7" name="Freeform 7"/>
            <p:cNvSpPr/>
            <p:nvPr/>
          </p:nvSpPr>
          <p:spPr bwMode="auto">
            <a:xfrm>
              <a:off x="97536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8" name="Freeform 8"/>
            <p:cNvSpPr/>
            <p:nvPr/>
          </p:nvSpPr>
          <p:spPr bwMode="auto">
            <a:xfrm>
              <a:off x="97536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9" name="Freeform 9"/>
            <p:cNvSpPr/>
            <p:nvPr/>
          </p:nvSpPr>
          <p:spPr bwMode="auto">
            <a:xfrm>
              <a:off x="9753600" y="4884141"/>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0" name="Freeform 10"/>
            <p:cNvSpPr/>
            <p:nvPr/>
          </p:nvSpPr>
          <p:spPr bwMode="auto">
            <a:xfrm>
              <a:off x="195072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1" name="Freeform 11"/>
            <p:cNvSpPr/>
            <p:nvPr/>
          </p:nvSpPr>
          <p:spPr bwMode="auto">
            <a:xfrm>
              <a:off x="19507200" y="48768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17000"/>
              </a:blip>
              <a:stretch/>
            </a:blipFill>
          </p:spPr>
        </p:sp>
        <p:sp>
          <p:nvSpPr>
            <p:cNvPr id="12" name="Freeform 12"/>
            <p:cNvSpPr/>
            <p:nvPr/>
          </p:nvSpPr>
          <p:spPr bwMode="auto">
            <a:xfrm>
              <a:off x="48768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3" name="Freeform 13"/>
            <p:cNvSpPr/>
            <p:nvPr/>
          </p:nvSpPr>
          <p:spPr bwMode="auto">
            <a:xfrm>
              <a:off x="48768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4" name="Freeform 14"/>
            <p:cNvSpPr/>
            <p:nvPr/>
          </p:nvSpPr>
          <p:spPr bwMode="auto">
            <a:xfrm>
              <a:off x="4876800" y="4884141"/>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5" name="Freeform 15"/>
            <p:cNvSpPr/>
            <p:nvPr/>
          </p:nvSpPr>
          <p:spPr bwMode="auto">
            <a:xfrm>
              <a:off x="146304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6" name="Freeform 16"/>
            <p:cNvSpPr/>
            <p:nvPr/>
          </p:nvSpPr>
          <p:spPr bwMode="auto">
            <a:xfrm>
              <a:off x="146304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7" name="Freeform 17"/>
            <p:cNvSpPr/>
            <p:nvPr/>
          </p:nvSpPr>
          <p:spPr bwMode="auto">
            <a:xfrm>
              <a:off x="14630400" y="48768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grpSp>
      <p:grpSp>
        <p:nvGrpSpPr>
          <p:cNvPr id="7764351" name="Group 18"/>
          <p:cNvGrpSpPr/>
          <p:nvPr/>
        </p:nvGrpSpPr>
        <p:grpSpPr bwMode="auto">
          <a:xfrm>
            <a:off x="14407420" y="134405"/>
            <a:ext cx="3519315" cy="934145"/>
            <a:chOff x="0" y="0"/>
            <a:chExt cx="4692420" cy="1245527"/>
          </a:xfrm>
        </p:grpSpPr>
        <p:sp>
          <p:nvSpPr>
            <p:cNvPr id="19" name="Freeform 19"/>
            <p:cNvSpPr/>
            <p:nvPr/>
          </p:nvSpPr>
          <p:spPr bwMode="auto">
            <a:xfrm>
              <a:off x="1643291" y="233036"/>
              <a:ext cx="1118835" cy="863153"/>
            </a:xfrm>
            <a:custGeom>
              <a:avLst/>
              <a:gdLst/>
              <a:ahLst/>
              <a:cxnLst/>
              <a:rect l="l" t="t" r="r" b="b"/>
              <a:pathLst>
                <a:path w="1118835" h="863153" fill="norm" stroke="1" extrusionOk="0">
                  <a:moveTo>
                    <a:pt x="0" y="0"/>
                  </a:moveTo>
                  <a:lnTo>
                    <a:pt x="1118835" y="0"/>
                  </a:lnTo>
                  <a:lnTo>
                    <a:pt x="1118835" y="863153"/>
                  </a:lnTo>
                  <a:lnTo>
                    <a:pt x="0" y="863153"/>
                  </a:lnTo>
                  <a:lnTo>
                    <a:pt x="0" y="0"/>
                  </a:lnTo>
                  <a:close/>
                </a:path>
              </a:pathLst>
            </a:custGeom>
            <a:blipFill>
              <a:blip r:embed="rId5"/>
              <a:stretch/>
            </a:blipFill>
          </p:spPr>
        </p:sp>
        <p:sp>
          <p:nvSpPr>
            <p:cNvPr id="20" name="Freeform 20"/>
            <p:cNvSpPr/>
            <p:nvPr/>
          </p:nvSpPr>
          <p:spPr bwMode="auto">
            <a:xfrm>
              <a:off x="0" y="0"/>
              <a:ext cx="1292661" cy="1096189"/>
            </a:xfrm>
            <a:custGeom>
              <a:avLst/>
              <a:gdLst/>
              <a:ahLst/>
              <a:cxnLst/>
              <a:rect l="l" t="t" r="r" b="b"/>
              <a:pathLst>
                <a:path w="1292661" h="1096189" fill="norm" stroke="1" extrusionOk="0">
                  <a:moveTo>
                    <a:pt x="0" y="0"/>
                  </a:moveTo>
                  <a:lnTo>
                    <a:pt x="1292661" y="0"/>
                  </a:lnTo>
                  <a:lnTo>
                    <a:pt x="1292661" y="1096189"/>
                  </a:lnTo>
                  <a:lnTo>
                    <a:pt x="0" y="1096189"/>
                  </a:lnTo>
                  <a:lnTo>
                    <a:pt x="0" y="0"/>
                  </a:lnTo>
                  <a:close/>
                </a:path>
              </a:pathLst>
            </a:custGeom>
            <a:blipFill>
              <a:blip r:embed="rId6"/>
              <a:stretch/>
            </a:blipFill>
          </p:spPr>
        </p:sp>
        <p:sp>
          <p:nvSpPr>
            <p:cNvPr id="21" name="Freeform 21"/>
            <p:cNvSpPr/>
            <p:nvPr/>
          </p:nvSpPr>
          <p:spPr bwMode="auto">
            <a:xfrm>
              <a:off x="2905209" y="200391"/>
              <a:ext cx="1787211" cy="1045135"/>
            </a:xfrm>
            <a:custGeom>
              <a:avLst/>
              <a:gdLst/>
              <a:ahLst/>
              <a:cxnLst/>
              <a:rect l="l" t="t" r="r" b="b"/>
              <a:pathLst>
                <a:path w="1787211" h="1045135" fill="norm" stroke="1" extrusionOk="0">
                  <a:moveTo>
                    <a:pt x="0" y="0"/>
                  </a:moveTo>
                  <a:lnTo>
                    <a:pt x="1787211" y="0"/>
                  </a:lnTo>
                  <a:lnTo>
                    <a:pt x="1787211" y="1045136"/>
                  </a:lnTo>
                  <a:lnTo>
                    <a:pt x="0" y="1045136"/>
                  </a:lnTo>
                  <a:lnTo>
                    <a:pt x="0" y="0"/>
                  </a:lnTo>
                  <a:close/>
                </a:path>
              </a:pathLst>
            </a:custGeom>
            <a:blipFill>
              <a:blip r:embed="rId7"/>
              <a:stretch>
                <a:fillRect l="-15589" t="-14282" r="-14525" b="0"/>
              </a:stretch>
            </a:blipFill>
          </p:spPr>
        </p:sp>
      </p:grpSp>
      <p:grpSp>
        <p:nvGrpSpPr>
          <p:cNvPr id="1047382515" name="Group 22"/>
          <p:cNvGrpSpPr/>
          <p:nvPr/>
        </p:nvGrpSpPr>
        <p:grpSpPr bwMode="auto">
          <a:xfrm>
            <a:off x="545875" y="-799311"/>
            <a:ext cx="965651" cy="1867862"/>
            <a:chOff x="0" y="0"/>
            <a:chExt cx="1287534" cy="2490482"/>
          </a:xfrm>
        </p:grpSpPr>
        <p:grpSp>
          <p:nvGrpSpPr>
            <p:cNvPr id="23" name="Group 23"/>
            <p:cNvGrpSpPr/>
            <p:nvPr/>
          </p:nvGrpSpPr>
          <p:grpSpPr bwMode="auto">
            <a:xfrm>
              <a:off x="79936" y="0"/>
              <a:ext cx="1169956" cy="2490482"/>
              <a:chOff x="0" y="0"/>
              <a:chExt cx="249524" cy="531162"/>
            </a:xfrm>
          </p:grpSpPr>
          <p:sp>
            <p:nvSpPr>
              <p:cNvPr id="24" name="Freeform 24"/>
              <p:cNvSpPr/>
              <p:nvPr/>
            </p:nvSpPr>
            <p:spPr bwMode="auto">
              <a:xfrm>
                <a:off x="0" y="0"/>
                <a:ext cx="249524" cy="531162"/>
              </a:xfrm>
              <a:custGeom>
                <a:avLst/>
                <a:gdLst/>
                <a:ahLst/>
                <a:cxnLst/>
                <a:rect l="l" t="t" r="r" b="b"/>
                <a:pathLst>
                  <a:path w="249524" h="531162" fill="norm" stroke="1" extrusionOk="0">
                    <a:moveTo>
                      <a:pt x="124762" y="0"/>
                    </a:moveTo>
                    <a:lnTo>
                      <a:pt x="124762" y="0"/>
                    </a:lnTo>
                    <a:cubicBezTo>
                      <a:pt x="193666" y="0"/>
                      <a:pt x="249524" y="55858"/>
                      <a:pt x="249524" y="124762"/>
                    </a:cubicBezTo>
                    <a:lnTo>
                      <a:pt x="249524" y="406400"/>
                    </a:lnTo>
                    <a:cubicBezTo>
                      <a:pt x="249524" y="439489"/>
                      <a:pt x="236380" y="471223"/>
                      <a:pt x="212982" y="494620"/>
                    </a:cubicBezTo>
                    <a:cubicBezTo>
                      <a:pt x="189585" y="518018"/>
                      <a:pt x="157851" y="531162"/>
                      <a:pt x="124762" y="531162"/>
                    </a:cubicBezTo>
                    <a:lnTo>
                      <a:pt x="124762" y="531162"/>
                    </a:lnTo>
                    <a:cubicBezTo>
                      <a:pt x="91673" y="531162"/>
                      <a:pt x="59939" y="518018"/>
                      <a:pt x="36542" y="494620"/>
                    </a:cubicBezTo>
                    <a:cubicBezTo>
                      <a:pt x="13145" y="471223"/>
                      <a:pt x="0" y="439489"/>
                      <a:pt x="0" y="406400"/>
                    </a:cubicBezTo>
                    <a:lnTo>
                      <a:pt x="0" y="124762"/>
                    </a:lnTo>
                    <a:cubicBezTo>
                      <a:pt x="0" y="91673"/>
                      <a:pt x="13145" y="59939"/>
                      <a:pt x="36542" y="36542"/>
                    </a:cubicBezTo>
                    <a:cubicBezTo>
                      <a:pt x="59939" y="13145"/>
                      <a:pt x="91673" y="0"/>
                      <a:pt x="124762" y="0"/>
                    </a:cubicBezTo>
                    <a:close/>
                  </a:path>
                </a:pathLst>
              </a:custGeom>
              <a:solidFill>
                <a:srgbClr val="030303"/>
              </a:solidFill>
            </p:spPr>
          </p:sp>
          <p:sp>
            <p:nvSpPr>
              <p:cNvPr id="25" name="TextBox 25"/>
              <p:cNvSpPr txBox="1"/>
              <p:nvPr/>
            </p:nvSpPr>
            <p:spPr bwMode="auto">
              <a:xfrm>
                <a:off x="0" y="-66675"/>
                <a:ext cx="249524" cy="597837"/>
              </a:xfrm>
              <a:prstGeom prst="rect">
                <a:avLst/>
              </a:prstGeom>
              <a:grpFill/>
            </p:spPr>
            <p:txBody>
              <a:bodyPr lIns="50800" tIns="50800" rIns="50800" bIns="50800" rtlCol="0" anchor="ctr"/>
              <a:lstStyle/>
              <a:p>
                <a:pPr algn="ctr">
                  <a:lnSpc>
                    <a:spcPts val="4759"/>
                  </a:lnSpc>
                  <a:defRPr/>
                </a:pPr>
                <a:endParaRPr/>
              </a:p>
            </p:txBody>
          </p:sp>
        </p:grpSp>
        <p:sp>
          <p:nvSpPr>
            <p:cNvPr id="26" name="Freeform 26"/>
            <p:cNvSpPr/>
            <p:nvPr/>
          </p:nvSpPr>
          <p:spPr bwMode="auto">
            <a:xfrm>
              <a:off x="0" y="1293424"/>
              <a:ext cx="1287534" cy="1163491"/>
            </a:xfrm>
            <a:custGeom>
              <a:avLst/>
              <a:gdLst/>
              <a:ahLst/>
              <a:cxnLst/>
              <a:rect l="l" t="t" r="r" b="b"/>
              <a:pathLst>
                <a:path w="1287534" h="1163491" fill="norm" stroke="1" extrusionOk="0">
                  <a:moveTo>
                    <a:pt x="0" y="0"/>
                  </a:moveTo>
                  <a:lnTo>
                    <a:pt x="1287534" y="0"/>
                  </a:lnTo>
                  <a:lnTo>
                    <a:pt x="1287534" y="1163490"/>
                  </a:lnTo>
                  <a:lnTo>
                    <a:pt x="0" y="1163490"/>
                  </a:lnTo>
                  <a:lnTo>
                    <a:pt x="0" y="0"/>
                  </a:lnTo>
                  <a:close/>
                </a:path>
              </a:pathLst>
            </a:custGeom>
            <a:blipFill>
              <a:blip r:embed="rId8"/>
              <a:stretch>
                <a:fillRect l="0" t="-489" r="0" b="-489"/>
              </a:stretch>
            </a:blipFill>
          </p:spPr>
        </p:sp>
      </p:grpSp>
      <p:sp>
        <p:nvSpPr>
          <p:cNvPr id="1833624621" name="TextBox 27"/>
          <p:cNvSpPr txBox="1"/>
          <p:nvPr/>
        </p:nvSpPr>
        <p:spPr bwMode="auto">
          <a:xfrm>
            <a:off x="463893" y="9719501"/>
            <a:ext cx="5201002" cy="333700"/>
          </a:xfrm>
          <a:prstGeom prst="rect">
            <a:avLst/>
          </a:prstGeom>
        </p:spPr>
        <p:txBody>
          <a:bodyPr lIns="0" tIns="0" rIns="0" bIns="0" rtlCol="0" anchor="t">
            <a:spAutoFit/>
          </a:bodyPr>
          <a:lstStyle/>
          <a:p>
            <a:pPr algn="ctr">
              <a:lnSpc>
                <a:spcPts val="2610"/>
              </a:lnSpc>
              <a:defRPr/>
            </a:pPr>
            <a:r>
              <a:rPr lang="en-US" sz="1850">
                <a:solidFill>
                  <a:srgbClr val="000000"/>
                </a:solidFill>
                <a:latin typeface="Poppins"/>
                <a:ea typeface="Poppins"/>
                <a:cs typeface="Poppins"/>
              </a:rPr>
              <a:t>Central India Hackathon 3.0 • SDG 3 &amp; SDG 9</a:t>
            </a:r>
            <a:endParaRPr/>
          </a:p>
        </p:txBody>
      </p:sp>
      <p:sp>
        <p:nvSpPr>
          <p:cNvPr id="744779196" name="TextBox 28"/>
          <p:cNvSpPr txBox="1"/>
          <p:nvPr/>
        </p:nvSpPr>
        <p:spPr bwMode="auto">
          <a:xfrm>
            <a:off x="2514601" y="838200"/>
            <a:ext cx="12764022" cy="1169679"/>
          </a:xfrm>
          <a:prstGeom prst="rect">
            <a:avLst/>
          </a:prstGeom>
        </p:spPr>
        <p:txBody>
          <a:bodyPr wrap="square" lIns="0" tIns="0" rIns="0" bIns="0" rtlCol="0" anchor="t">
            <a:spAutoFit/>
          </a:bodyPr>
          <a:lstStyle/>
          <a:p>
            <a:pPr algn="ctr">
              <a:lnSpc>
                <a:spcPts val="9604"/>
              </a:lnSpc>
              <a:defRPr/>
            </a:pPr>
            <a:r>
              <a:rPr lang="en-US" sz="6850" b="1">
                <a:solidFill>
                  <a:srgbClr val="000000"/>
                </a:solidFill>
                <a:latin typeface="Poppins Bold"/>
                <a:ea typeface="Poppins Bold"/>
                <a:cs typeface="Poppins Bold"/>
              </a:rPr>
              <a:t>Implementation Overview</a:t>
            </a:r>
            <a:endParaRPr/>
          </a:p>
        </p:txBody>
      </p:sp>
      <p:sp>
        <p:nvSpPr>
          <p:cNvPr id="419712057" name="TextBox 29"/>
          <p:cNvSpPr txBox="1"/>
          <p:nvPr/>
        </p:nvSpPr>
        <p:spPr bwMode="auto">
          <a:xfrm flipH="0" flipV="0">
            <a:off x="545874" y="3587568"/>
            <a:ext cx="6974867" cy="5611727"/>
          </a:xfrm>
          <a:prstGeom prst="rect">
            <a:avLst/>
          </a:prstGeom>
        </p:spPr>
        <p:txBody>
          <a:bodyPr lIns="0" tIns="0" rIns="0" bIns="0" rtlCol="0" anchor="t">
            <a:spAutoFit/>
          </a:bodyPr>
          <a:lstStyle/>
          <a:p>
            <a:pPr lvl="1" algn="just">
              <a:lnSpc>
                <a:spcPts val="6312"/>
              </a:lnSpc>
              <a:defRPr/>
            </a:pPr>
            <a:r>
              <a:rPr lang="en-US" sz="4800">
                <a:solidFill>
                  <a:srgbClr val="000000"/>
                </a:solidFill>
                <a:latin typeface="Poppins"/>
                <a:ea typeface="Poppins"/>
                <a:cs typeface="Poppins"/>
              </a:rPr>
              <a:t>Tech Used:-</a:t>
            </a:r>
            <a:endParaRPr sz="2800"/>
          </a:p>
          <a:p>
            <a:pPr marL="1280806" lvl="2" indent="-394023" algn="just">
              <a:lnSpc>
                <a:spcPts val="6311"/>
              </a:lnSpc>
              <a:buFont typeface="Arial"/>
              <a:buChar char="•"/>
              <a:defRPr/>
            </a:pPr>
            <a:r>
              <a:rPr sz="3600"/>
              <a:t>MongoDB - for Database</a:t>
            </a:r>
            <a:endParaRPr sz="3600"/>
          </a:p>
          <a:p>
            <a:pPr marL="1280806" lvl="2" indent="-394023" algn="just">
              <a:lnSpc>
                <a:spcPts val="6311"/>
              </a:lnSpc>
              <a:buFont typeface="Arial"/>
              <a:buChar char="•"/>
              <a:defRPr/>
            </a:pPr>
            <a:r>
              <a:rPr sz="3600"/>
              <a:t>Expressjs/Nodejs- for Backend</a:t>
            </a:r>
            <a:endParaRPr sz="3600"/>
          </a:p>
          <a:p>
            <a:pPr marL="1280806" lvl="2" indent="-394023" algn="just">
              <a:lnSpc>
                <a:spcPts val="6311"/>
              </a:lnSpc>
              <a:buFont typeface="Arial"/>
              <a:buChar char="•"/>
              <a:defRPr/>
            </a:pPr>
            <a:r>
              <a:rPr sz="3600"/>
              <a:t>React - for Frontend</a:t>
            </a:r>
            <a:endParaRPr sz="3600"/>
          </a:p>
          <a:p>
            <a:pPr marL="1280806" lvl="2" indent="-394023" algn="just">
              <a:lnSpc>
                <a:spcPts val="6311"/>
              </a:lnSpc>
              <a:buFont typeface="Arial"/>
              <a:buChar char="•"/>
              <a:defRPr/>
            </a:pPr>
            <a:r>
              <a:rPr sz="3600"/>
              <a:t>Python for AI integration</a:t>
            </a:r>
            <a:endParaRPr sz="3600"/>
          </a:p>
          <a:p>
            <a:pPr lvl="1" algn="just">
              <a:lnSpc>
                <a:spcPts val="6311"/>
              </a:lnSpc>
              <a:defRPr/>
            </a:pPr>
            <a:endParaRPr sz="3600"/>
          </a:p>
          <a:p>
            <a:pPr marL="973465" lvl="1" indent="-486732" algn="just">
              <a:lnSpc>
                <a:spcPts val="6311"/>
              </a:lnSpc>
              <a:buFont typeface="Arial"/>
              <a:buChar char="•"/>
              <a:defRPr/>
            </a:pPr>
            <a:endParaRPr/>
          </a:p>
        </p:txBody>
      </p:sp>
      <p:sp>
        <p:nvSpPr>
          <p:cNvPr id="738897446" name=""/>
          <p:cNvSpPr txBox="1"/>
          <p:nvPr/>
        </p:nvSpPr>
        <p:spPr bwMode="auto">
          <a:xfrm rot="0" flipH="0" flipV="0">
            <a:off x="6850337" y="3609768"/>
            <a:ext cx="4942702" cy="3661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endParaRPr/>
          </a:p>
        </p:txBody>
      </p:sp>
      <p:sp>
        <p:nvSpPr>
          <p:cNvPr id="517830970" name=""/>
          <p:cNvSpPr txBox="1"/>
          <p:nvPr/>
        </p:nvSpPr>
        <p:spPr bwMode="auto">
          <a:xfrm rot="0" flipH="0" flipV="0">
            <a:off x="8620159" y="2711612"/>
            <a:ext cx="7704411" cy="667548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lgn="l">
              <a:defRPr/>
            </a:pPr>
            <a:r>
              <a:rPr lang="en-US" sz="4800" b="0" i="0" u="none" strike="noStrike" cap="none" spc="0">
                <a:solidFill>
                  <a:schemeClr val="tx1"/>
                </a:solidFill>
                <a:latin typeface="Calibri"/>
                <a:ea typeface="Calibri"/>
                <a:cs typeface="Calibri"/>
              </a:rPr>
              <a:t>React UI</a:t>
            </a:r>
            <a:endParaRPr sz="4800" b="0" i="0" u="none" strike="noStrike" cap="none" spc="0">
              <a:solidFill>
                <a:schemeClr val="tx1"/>
              </a:solidFill>
              <a:latin typeface="Calibri"/>
              <a:cs typeface="Calibri"/>
            </a:endParaRPr>
          </a:p>
          <a:p>
            <a:pPr algn="l">
              <a:defRPr/>
            </a:pPr>
            <a:r>
              <a:rPr lang="en-US" sz="4800" b="0" i="0" u="none" strike="noStrike" cap="none" spc="0">
                <a:solidFill>
                  <a:schemeClr val="tx1"/>
                </a:solidFill>
                <a:latin typeface="Calibri"/>
                <a:ea typeface="Calibri"/>
                <a:cs typeface="Calibri"/>
              </a:rPr>
              <a:t>   ↓</a:t>
            </a:r>
            <a:endParaRPr sz="4800" b="0" i="0" u="none" strike="noStrike" cap="none" spc="0">
              <a:solidFill>
                <a:schemeClr val="tx1"/>
              </a:solidFill>
              <a:latin typeface="Calibri"/>
              <a:cs typeface="Calibri"/>
            </a:endParaRPr>
          </a:p>
          <a:p>
            <a:pPr algn="l">
              <a:defRPr/>
            </a:pPr>
            <a:r>
              <a:rPr lang="en-US" sz="4800" b="0" i="0" u="none" strike="noStrike" cap="none" spc="0">
                <a:solidFill>
                  <a:schemeClr val="tx1"/>
                </a:solidFill>
                <a:latin typeface="Calibri"/>
                <a:ea typeface="Calibri"/>
                <a:cs typeface="Calibri"/>
              </a:rPr>
              <a:t>Node.js/Express.js API</a:t>
            </a:r>
            <a:endParaRPr sz="4800" b="0" i="0" u="none" strike="noStrike" cap="none" spc="0">
              <a:solidFill>
                <a:schemeClr val="tx1"/>
              </a:solidFill>
              <a:latin typeface="Calibri"/>
              <a:cs typeface="Calibri"/>
            </a:endParaRPr>
          </a:p>
          <a:p>
            <a:pPr algn="l">
              <a:defRPr/>
            </a:pPr>
            <a:r>
              <a:rPr lang="en-US" sz="4800" b="0" i="0" u="none" strike="noStrike" cap="none" spc="0">
                <a:solidFill>
                  <a:schemeClr val="tx1"/>
                </a:solidFill>
                <a:latin typeface="Calibri"/>
                <a:ea typeface="Calibri"/>
                <a:cs typeface="Calibri"/>
              </a:rPr>
              <a:t>   ↓</a:t>
            </a:r>
            <a:endParaRPr sz="4800" b="0" i="0" u="none" strike="noStrike" cap="none" spc="0">
              <a:solidFill>
                <a:schemeClr val="tx1"/>
              </a:solidFill>
              <a:latin typeface="Calibri"/>
              <a:cs typeface="Calibri"/>
            </a:endParaRPr>
          </a:p>
          <a:p>
            <a:pPr algn="l">
              <a:defRPr/>
            </a:pPr>
            <a:r>
              <a:rPr lang="en-US" sz="4800" b="0" i="0" u="none" strike="noStrike" cap="none" spc="0">
                <a:solidFill>
                  <a:schemeClr val="tx1"/>
                </a:solidFill>
                <a:latin typeface="Calibri"/>
                <a:ea typeface="Calibri"/>
                <a:cs typeface="Calibri"/>
              </a:rPr>
              <a:t>AI Service (API/Python)</a:t>
            </a:r>
            <a:endParaRPr sz="4800" b="0" i="0" u="none" strike="noStrike" cap="none" spc="0">
              <a:solidFill>
                <a:schemeClr val="tx1"/>
              </a:solidFill>
              <a:latin typeface="Calibri"/>
              <a:cs typeface="Calibri"/>
            </a:endParaRPr>
          </a:p>
          <a:p>
            <a:pPr algn="l">
              <a:defRPr/>
            </a:pPr>
            <a:r>
              <a:rPr lang="en-US" sz="4800" b="0" i="0" u="none" strike="noStrike" cap="none" spc="0">
                <a:solidFill>
                  <a:schemeClr val="tx1"/>
                </a:solidFill>
                <a:latin typeface="Calibri"/>
                <a:ea typeface="Calibri"/>
                <a:cs typeface="Calibri"/>
              </a:rPr>
              <a:t>   ↓</a:t>
            </a:r>
            <a:endParaRPr sz="4800" b="0" i="0" u="none" strike="noStrike" cap="none" spc="0">
              <a:solidFill>
                <a:schemeClr val="tx1"/>
              </a:solidFill>
              <a:latin typeface="Calibri"/>
              <a:cs typeface="Calibri"/>
            </a:endParaRPr>
          </a:p>
          <a:p>
            <a:pPr algn="l">
              <a:defRPr/>
            </a:pPr>
            <a:r>
              <a:rPr lang="en-US" sz="4800" b="0" i="0" u="none" strike="noStrike" cap="none" spc="0">
                <a:solidFill>
                  <a:schemeClr val="tx1"/>
                </a:solidFill>
                <a:latin typeface="Calibri"/>
                <a:ea typeface="Calibri"/>
                <a:cs typeface="Calibri"/>
              </a:rPr>
              <a:t>Decision Engine</a:t>
            </a:r>
            <a:endParaRPr sz="4800" b="0" i="0" u="none" strike="noStrike" cap="none" spc="0">
              <a:solidFill>
                <a:schemeClr val="tx1"/>
              </a:solidFill>
              <a:latin typeface="Calibri"/>
              <a:cs typeface="Calibri"/>
            </a:endParaRPr>
          </a:p>
          <a:p>
            <a:pPr algn="l">
              <a:defRPr/>
            </a:pPr>
            <a:r>
              <a:rPr lang="en-US" sz="4800" b="0" i="0" u="none" strike="noStrike" cap="none" spc="0">
                <a:solidFill>
                  <a:schemeClr val="tx1"/>
                </a:solidFill>
                <a:latin typeface="Calibri"/>
                <a:ea typeface="Calibri"/>
                <a:cs typeface="Calibri"/>
              </a:rPr>
              <a:t>   ↓</a:t>
            </a:r>
            <a:endParaRPr sz="4800" b="0" i="0" u="none" strike="noStrike" cap="none" spc="0">
              <a:solidFill>
                <a:schemeClr val="tx1"/>
              </a:solidFill>
              <a:latin typeface="Calibri"/>
              <a:cs typeface="Calibri"/>
            </a:endParaRPr>
          </a:p>
          <a:p>
            <a:pPr algn="l">
              <a:defRPr/>
            </a:pPr>
            <a:r>
              <a:rPr lang="en-US" sz="4800" b="0" i="0" u="none" strike="noStrike" cap="none" spc="0">
                <a:solidFill>
                  <a:schemeClr val="tx1"/>
                </a:solidFill>
                <a:latin typeface="Calibri"/>
                <a:ea typeface="Calibri"/>
                <a:cs typeface="Calibri"/>
              </a:rPr>
              <a:t>Doctor / Patient</a:t>
            </a:r>
            <a:endParaRPr lang="en-US" sz="1800" b="0" i="0" u="none" strike="noStrike" cap="none" spc="0">
              <a:solidFill>
                <a:schemeClr val="tx1"/>
              </a:solidFill>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7124253" name=""/>
          <p:cNvSpPr/>
          <p:nvPr/>
        </p:nvSpPr>
        <p:spPr bwMode="auto">
          <a:xfrm rot="0" flipH="0" flipV="0">
            <a:off x="10209065" y="2522837"/>
            <a:ext cx="8118213" cy="6519881"/>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sp>
      <p:sp>
        <p:nvSpPr>
          <p:cNvPr id="1866908601" name=""/>
          <p:cNvSpPr/>
          <p:nvPr/>
        </p:nvSpPr>
        <p:spPr bwMode="auto">
          <a:xfrm rot="0" flipH="0" flipV="0">
            <a:off x="1341283" y="2908986"/>
            <a:ext cx="7877432" cy="6384324"/>
          </a:xfrm>
          <a:prstGeom prst="rect">
            <a:avLst/>
          </a:prstGeom>
        </p:spPr>
        <p:style>
          <a:lnRef idx="2">
            <a:schemeClr val="accent1">
              <a:shade val="50000"/>
            </a:schemeClr>
          </a:lnRef>
          <a:fillRef idx="1">
            <a:schemeClr val="accent1"/>
          </a:fillRef>
          <a:effectRef idx="0">
            <a:schemeClr val="accent1"/>
          </a:effectRef>
          <a:fontRef idx="minor">
            <a:schemeClr val="lt1"/>
          </a:fontRef>
        </p:style>
      </p:sp>
      <p:grpSp>
        <p:nvGrpSpPr>
          <p:cNvPr id="682622656" name="Group 2"/>
          <p:cNvGrpSpPr/>
          <p:nvPr/>
        </p:nvGrpSpPr>
        <p:grpSpPr bwMode="auto">
          <a:xfrm>
            <a:off x="0" y="-51486"/>
            <a:ext cx="18288000" cy="10972800"/>
            <a:chOff x="0" y="0"/>
            <a:chExt cx="18288000" cy="10972800"/>
          </a:xfrm>
        </p:grpSpPr>
        <p:sp>
          <p:nvSpPr>
            <p:cNvPr id="3" name="Freeform 3"/>
            <p:cNvSpPr/>
            <p:nvPr/>
          </p:nvSpPr>
          <p:spPr bwMode="auto">
            <a:xfrm>
              <a:off x="14630400" y="73152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9520"/>
              </a:blip>
              <a:stretch/>
            </a:blipFill>
          </p:spPr>
        </p:sp>
        <p:sp>
          <p:nvSpPr>
            <p:cNvPr id="4" name="Freeform 4"/>
            <p:cNvSpPr/>
            <p:nvPr/>
          </p:nvSpPr>
          <p:spPr bwMode="auto">
            <a:xfrm>
              <a:off x="0" y="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9520"/>
              </a:blip>
              <a:stretch/>
            </a:blipFill>
          </p:spPr>
        </p:sp>
        <p:sp>
          <p:nvSpPr>
            <p:cNvPr id="5" name="Freeform 5"/>
            <p:cNvSpPr/>
            <p:nvPr/>
          </p:nvSpPr>
          <p:spPr bwMode="auto">
            <a:xfrm>
              <a:off x="0" y="73152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9520"/>
              </a:blip>
              <a:stretch/>
            </a:blipFill>
          </p:spPr>
        </p:sp>
        <p:sp>
          <p:nvSpPr>
            <p:cNvPr id="6" name="Freeform 6"/>
            <p:cNvSpPr/>
            <p:nvPr/>
          </p:nvSpPr>
          <p:spPr bwMode="auto">
            <a:xfrm>
              <a:off x="0" y="36576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9520"/>
              </a:blip>
              <a:stretch/>
            </a:blipFill>
          </p:spPr>
        </p:sp>
        <p:sp>
          <p:nvSpPr>
            <p:cNvPr id="7" name="Freeform 7"/>
            <p:cNvSpPr/>
            <p:nvPr/>
          </p:nvSpPr>
          <p:spPr bwMode="auto">
            <a:xfrm>
              <a:off x="7315200" y="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9520"/>
              </a:blip>
              <a:stretch/>
            </a:blipFill>
          </p:spPr>
        </p:sp>
        <p:sp>
          <p:nvSpPr>
            <p:cNvPr id="8" name="Freeform 8"/>
            <p:cNvSpPr/>
            <p:nvPr/>
          </p:nvSpPr>
          <p:spPr bwMode="auto">
            <a:xfrm>
              <a:off x="7315200" y="73152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9520"/>
              </a:blip>
              <a:stretch/>
            </a:blipFill>
          </p:spPr>
        </p:sp>
        <p:sp>
          <p:nvSpPr>
            <p:cNvPr id="9" name="Freeform 9"/>
            <p:cNvSpPr/>
            <p:nvPr/>
          </p:nvSpPr>
          <p:spPr bwMode="auto">
            <a:xfrm>
              <a:off x="7315200" y="3663105"/>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9520"/>
              </a:blip>
              <a:stretch/>
            </a:blipFill>
          </p:spPr>
        </p:sp>
        <p:sp>
          <p:nvSpPr>
            <p:cNvPr id="10" name="Freeform 10"/>
            <p:cNvSpPr/>
            <p:nvPr/>
          </p:nvSpPr>
          <p:spPr bwMode="auto">
            <a:xfrm>
              <a:off x="14630400" y="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9520"/>
              </a:blip>
              <a:stretch/>
            </a:blipFill>
          </p:spPr>
        </p:sp>
        <p:sp>
          <p:nvSpPr>
            <p:cNvPr id="11" name="Freeform 11"/>
            <p:cNvSpPr/>
            <p:nvPr/>
          </p:nvSpPr>
          <p:spPr bwMode="auto">
            <a:xfrm>
              <a:off x="14630400" y="36576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9520"/>
              </a:blip>
              <a:stretch/>
            </a:blipFill>
          </p:spPr>
        </p:sp>
        <p:sp>
          <p:nvSpPr>
            <p:cNvPr id="12" name="Freeform 12"/>
            <p:cNvSpPr/>
            <p:nvPr/>
          </p:nvSpPr>
          <p:spPr bwMode="auto">
            <a:xfrm>
              <a:off x="3657600" y="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9520"/>
              </a:blip>
              <a:stretch/>
            </a:blipFill>
          </p:spPr>
        </p:sp>
        <p:sp>
          <p:nvSpPr>
            <p:cNvPr id="13" name="Freeform 13"/>
            <p:cNvSpPr/>
            <p:nvPr/>
          </p:nvSpPr>
          <p:spPr bwMode="auto">
            <a:xfrm>
              <a:off x="3657600" y="73152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9520"/>
              </a:blip>
              <a:stretch/>
            </a:blipFill>
          </p:spPr>
        </p:sp>
        <p:sp>
          <p:nvSpPr>
            <p:cNvPr id="14" name="Freeform 14"/>
            <p:cNvSpPr/>
            <p:nvPr/>
          </p:nvSpPr>
          <p:spPr bwMode="auto">
            <a:xfrm>
              <a:off x="3657600" y="3637362"/>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9520"/>
              </a:blip>
              <a:stretch/>
            </a:blipFill>
          </p:spPr>
        </p:sp>
        <p:sp>
          <p:nvSpPr>
            <p:cNvPr id="15" name="Freeform 15"/>
            <p:cNvSpPr/>
            <p:nvPr/>
          </p:nvSpPr>
          <p:spPr bwMode="auto">
            <a:xfrm>
              <a:off x="10972799" y="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9520"/>
              </a:blip>
              <a:stretch/>
            </a:blipFill>
          </p:spPr>
        </p:sp>
        <p:sp>
          <p:nvSpPr>
            <p:cNvPr id="16" name="Freeform 16"/>
            <p:cNvSpPr/>
            <p:nvPr/>
          </p:nvSpPr>
          <p:spPr bwMode="auto">
            <a:xfrm>
              <a:off x="10972799" y="73152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9520"/>
              </a:blip>
              <a:stretch/>
            </a:blipFill>
          </p:spPr>
        </p:sp>
        <p:sp>
          <p:nvSpPr>
            <p:cNvPr id="17" name="Freeform 17"/>
            <p:cNvSpPr/>
            <p:nvPr/>
          </p:nvSpPr>
          <p:spPr bwMode="auto">
            <a:xfrm>
              <a:off x="10972799" y="36576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9520"/>
              </a:blip>
              <a:stretch/>
            </a:blipFill>
          </p:spPr>
        </p:sp>
      </p:grpSp>
      <p:grpSp>
        <p:nvGrpSpPr>
          <p:cNvPr id="617893124" name="Group 18"/>
          <p:cNvGrpSpPr/>
          <p:nvPr/>
        </p:nvGrpSpPr>
        <p:grpSpPr bwMode="auto">
          <a:xfrm>
            <a:off x="14407420" y="134405"/>
            <a:ext cx="3519315" cy="934145"/>
            <a:chOff x="0" y="0"/>
            <a:chExt cx="4692420" cy="1245527"/>
          </a:xfrm>
        </p:grpSpPr>
        <p:sp>
          <p:nvSpPr>
            <p:cNvPr id="19" name="Freeform 19"/>
            <p:cNvSpPr/>
            <p:nvPr/>
          </p:nvSpPr>
          <p:spPr bwMode="auto">
            <a:xfrm>
              <a:off x="1643291" y="233036"/>
              <a:ext cx="1118835" cy="863153"/>
            </a:xfrm>
            <a:custGeom>
              <a:avLst/>
              <a:gdLst/>
              <a:ahLst/>
              <a:cxnLst/>
              <a:rect l="l" t="t" r="r" b="b"/>
              <a:pathLst>
                <a:path w="1118835" h="863153" fill="norm" stroke="1" extrusionOk="0">
                  <a:moveTo>
                    <a:pt x="0" y="0"/>
                  </a:moveTo>
                  <a:lnTo>
                    <a:pt x="1118835" y="0"/>
                  </a:lnTo>
                  <a:lnTo>
                    <a:pt x="1118835" y="863153"/>
                  </a:lnTo>
                  <a:lnTo>
                    <a:pt x="0" y="863153"/>
                  </a:lnTo>
                  <a:lnTo>
                    <a:pt x="0" y="0"/>
                  </a:lnTo>
                  <a:close/>
                </a:path>
              </a:pathLst>
            </a:custGeom>
            <a:blipFill>
              <a:blip r:embed="rId5"/>
              <a:stretch/>
            </a:blipFill>
          </p:spPr>
        </p:sp>
        <p:sp>
          <p:nvSpPr>
            <p:cNvPr id="20" name="Freeform 20"/>
            <p:cNvSpPr/>
            <p:nvPr/>
          </p:nvSpPr>
          <p:spPr bwMode="auto">
            <a:xfrm>
              <a:off x="0" y="0"/>
              <a:ext cx="1292661" cy="1096189"/>
            </a:xfrm>
            <a:custGeom>
              <a:avLst/>
              <a:gdLst/>
              <a:ahLst/>
              <a:cxnLst/>
              <a:rect l="l" t="t" r="r" b="b"/>
              <a:pathLst>
                <a:path w="1292661" h="1096189" fill="norm" stroke="1" extrusionOk="0">
                  <a:moveTo>
                    <a:pt x="0" y="0"/>
                  </a:moveTo>
                  <a:lnTo>
                    <a:pt x="1292661" y="0"/>
                  </a:lnTo>
                  <a:lnTo>
                    <a:pt x="1292661" y="1096189"/>
                  </a:lnTo>
                  <a:lnTo>
                    <a:pt x="0" y="1096189"/>
                  </a:lnTo>
                  <a:lnTo>
                    <a:pt x="0" y="0"/>
                  </a:lnTo>
                  <a:close/>
                </a:path>
              </a:pathLst>
            </a:custGeom>
            <a:blipFill>
              <a:blip r:embed="rId6"/>
              <a:stretch/>
            </a:blipFill>
          </p:spPr>
        </p:sp>
        <p:sp>
          <p:nvSpPr>
            <p:cNvPr id="21" name="Freeform 21"/>
            <p:cNvSpPr/>
            <p:nvPr/>
          </p:nvSpPr>
          <p:spPr bwMode="auto">
            <a:xfrm>
              <a:off x="2905209" y="200391"/>
              <a:ext cx="1787211" cy="1045135"/>
            </a:xfrm>
            <a:custGeom>
              <a:avLst/>
              <a:gdLst/>
              <a:ahLst/>
              <a:cxnLst/>
              <a:rect l="l" t="t" r="r" b="b"/>
              <a:pathLst>
                <a:path w="1787211" h="1045135" fill="norm" stroke="1" extrusionOk="0">
                  <a:moveTo>
                    <a:pt x="0" y="0"/>
                  </a:moveTo>
                  <a:lnTo>
                    <a:pt x="1787211" y="0"/>
                  </a:lnTo>
                  <a:lnTo>
                    <a:pt x="1787211" y="1045136"/>
                  </a:lnTo>
                  <a:lnTo>
                    <a:pt x="0" y="1045136"/>
                  </a:lnTo>
                  <a:lnTo>
                    <a:pt x="0" y="0"/>
                  </a:lnTo>
                  <a:close/>
                </a:path>
              </a:pathLst>
            </a:custGeom>
            <a:blipFill>
              <a:blip r:embed="rId7"/>
              <a:stretch>
                <a:fillRect l="-15589" t="-14282" r="-14525" b="0"/>
              </a:stretch>
            </a:blipFill>
          </p:spPr>
        </p:sp>
      </p:grpSp>
      <p:grpSp>
        <p:nvGrpSpPr>
          <p:cNvPr id="1636454540" name="Group 22"/>
          <p:cNvGrpSpPr/>
          <p:nvPr/>
        </p:nvGrpSpPr>
        <p:grpSpPr bwMode="auto">
          <a:xfrm>
            <a:off x="545875" y="-799311"/>
            <a:ext cx="965651" cy="1867862"/>
            <a:chOff x="0" y="0"/>
            <a:chExt cx="1287534" cy="2490482"/>
          </a:xfrm>
        </p:grpSpPr>
        <p:grpSp>
          <p:nvGrpSpPr>
            <p:cNvPr id="23" name="Group 23"/>
            <p:cNvGrpSpPr/>
            <p:nvPr/>
          </p:nvGrpSpPr>
          <p:grpSpPr bwMode="auto">
            <a:xfrm>
              <a:off x="79936" y="0"/>
              <a:ext cx="1169956" cy="2490482"/>
              <a:chOff x="0" y="0"/>
              <a:chExt cx="249524" cy="531162"/>
            </a:xfrm>
          </p:grpSpPr>
          <p:sp>
            <p:nvSpPr>
              <p:cNvPr id="24" name="Freeform 24"/>
              <p:cNvSpPr/>
              <p:nvPr/>
            </p:nvSpPr>
            <p:spPr bwMode="auto">
              <a:xfrm>
                <a:off x="0" y="0"/>
                <a:ext cx="249524" cy="531162"/>
              </a:xfrm>
              <a:custGeom>
                <a:avLst/>
                <a:gdLst/>
                <a:ahLst/>
                <a:cxnLst/>
                <a:rect l="l" t="t" r="r" b="b"/>
                <a:pathLst>
                  <a:path w="249524" h="531162" fill="norm" stroke="1" extrusionOk="0">
                    <a:moveTo>
                      <a:pt x="124762" y="0"/>
                    </a:moveTo>
                    <a:lnTo>
                      <a:pt x="124762" y="0"/>
                    </a:lnTo>
                    <a:cubicBezTo>
                      <a:pt x="193666" y="0"/>
                      <a:pt x="249524" y="55858"/>
                      <a:pt x="249524" y="124762"/>
                    </a:cubicBezTo>
                    <a:lnTo>
                      <a:pt x="249524" y="406400"/>
                    </a:lnTo>
                    <a:cubicBezTo>
                      <a:pt x="249524" y="439489"/>
                      <a:pt x="236380" y="471223"/>
                      <a:pt x="212982" y="494620"/>
                    </a:cubicBezTo>
                    <a:cubicBezTo>
                      <a:pt x="189585" y="518018"/>
                      <a:pt x="157851" y="531162"/>
                      <a:pt x="124762" y="531162"/>
                    </a:cubicBezTo>
                    <a:lnTo>
                      <a:pt x="124762" y="531162"/>
                    </a:lnTo>
                    <a:cubicBezTo>
                      <a:pt x="91673" y="531162"/>
                      <a:pt x="59939" y="518018"/>
                      <a:pt x="36542" y="494620"/>
                    </a:cubicBezTo>
                    <a:cubicBezTo>
                      <a:pt x="13145" y="471223"/>
                      <a:pt x="0" y="439489"/>
                      <a:pt x="0" y="406400"/>
                    </a:cubicBezTo>
                    <a:lnTo>
                      <a:pt x="0" y="124762"/>
                    </a:lnTo>
                    <a:cubicBezTo>
                      <a:pt x="0" y="91673"/>
                      <a:pt x="13145" y="59939"/>
                      <a:pt x="36542" y="36542"/>
                    </a:cubicBezTo>
                    <a:cubicBezTo>
                      <a:pt x="59939" y="13145"/>
                      <a:pt x="91673" y="0"/>
                      <a:pt x="124762" y="0"/>
                    </a:cubicBezTo>
                    <a:close/>
                  </a:path>
                </a:pathLst>
              </a:custGeom>
              <a:solidFill>
                <a:srgbClr val="030303"/>
              </a:solidFill>
            </p:spPr>
          </p:sp>
          <p:sp>
            <p:nvSpPr>
              <p:cNvPr id="25" name="TextBox 25"/>
              <p:cNvSpPr txBox="1"/>
              <p:nvPr/>
            </p:nvSpPr>
            <p:spPr bwMode="auto">
              <a:xfrm>
                <a:off x="0" y="-66675"/>
                <a:ext cx="249524" cy="597837"/>
              </a:xfrm>
              <a:prstGeom prst="rect">
                <a:avLst/>
              </a:prstGeom>
              <a:grpFill/>
            </p:spPr>
            <p:txBody>
              <a:bodyPr lIns="50800" tIns="50800" rIns="50800" bIns="50800" rtlCol="0" anchor="ctr"/>
              <a:lstStyle/>
              <a:p>
                <a:pPr algn="ctr">
                  <a:lnSpc>
                    <a:spcPts val="4759"/>
                  </a:lnSpc>
                  <a:defRPr/>
                </a:pPr>
                <a:endParaRPr/>
              </a:p>
            </p:txBody>
          </p:sp>
        </p:grpSp>
        <p:sp>
          <p:nvSpPr>
            <p:cNvPr id="26" name="Freeform 26"/>
            <p:cNvSpPr/>
            <p:nvPr/>
          </p:nvSpPr>
          <p:spPr bwMode="auto">
            <a:xfrm>
              <a:off x="0" y="1293424"/>
              <a:ext cx="1287534" cy="1163491"/>
            </a:xfrm>
            <a:custGeom>
              <a:avLst/>
              <a:gdLst/>
              <a:ahLst/>
              <a:cxnLst/>
              <a:rect l="l" t="t" r="r" b="b"/>
              <a:pathLst>
                <a:path w="1287534" h="1163491" fill="norm" stroke="1" extrusionOk="0">
                  <a:moveTo>
                    <a:pt x="0" y="0"/>
                  </a:moveTo>
                  <a:lnTo>
                    <a:pt x="1287534" y="0"/>
                  </a:lnTo>
                  <a:lnTo>
                    <a:pt x="1287534" y="1163490"/>
                  </a:lnTo>
                  <a:lnTo>
                    <a:pt x="0" y="1163490"/>
                  </a:lnTo>
                  <a:lnTo>
                    <a:pt x="0" y="0"/>
                  </a:lnTo>
                  <a:close/>
                </a:path>
              </a:pathLst>
            </a:custGeom>
            <a:blipFill>
              <a:blip r:embed="rId8"/>
              <a:stretch>
                <a:fillRect l="0" t="-489" r="0" b="-489"/>
              </a:stretch>
            </a:blipFill>
          </p:spPr>
        </p:sp>
      </p:grpSp>
      <p:sp>
        <p:nvSpPr>
          <p:cNvPr id="1198925625" name="TextBox 27"/>
          <p:cNvSpPr txBox="1"/>
          <p:nvPr/>
        </p:nvSpPr>
        <p:spPr bwMode="auto">
          <a:xfrm>
            <a:off x="463893" y="9719501"/>
            <a:ext cx="5201002" cy="333700"/>
          </a:xfrm>
          <a:prstGeom prst="rect">
            <a:avLst/>
          </a:prstGeom>
        </p:spPr>
        <p:txBody>
          <a:bodyPr lIns="0" tIns="0" rIns="0" bIns="0" rtlCol="0" anchor="t">
            <a:spAutoFit/>
          </a:bodyPr>
          <a:lstStyle/>
          <a:p>
            <a:pPr algn="ctr">
              <a:lnSpc>
                <a:spcPts val="2610"/>
              </a:lnSpc>
              <a:defRPr/>
            </a:pPr>
            <a:r>
              <a:rPr lang="en-US" sz="1850">
                <a:solidFill>
                  <a:srgbClr val="000000"/>
                </a:solidFill>
                <a:latin typeface="Poppins"/>
                <a:ea typeface="Poppins"/>
                <a:cs typeface="Poppins"/>
              </a:rPr>
              <a:t>Central India Hackathon 3.0 • SDG 3 &amp; SDG 9</a:t>
            </a:r>
            <a:endParaRPr/>
          </a:p>
        </p:txBody>
      </p:sp>
      <p:sp>
        <p:nvSpPr>
          <p:cNvPr id="1770306358" name="TextBox 28"/>
          <p:cNvSpPr txBox="1"/>
          <p:nvPr/>
        </p:nvSpPr>
        <p:spPr bwMode="auto">
          <a:xfrm>
            <a:off x="4112193" y="606510"/>
            <a:ext cx="9494079" cy="1169679"/>
          </a:xfrm>
          <a:prstGeom prst="rect">
            <a:avLst/>
          </a:prstGeom>
        </p:spPr>
        <p:txBody>
          <a:bodyPr wrap="square" lIns="0" tIns="0" rIns="0" bIns="0" rtlCol="0" anchor="t">
            <a:spAutoFit/>
          </a:bodyPr>
          <a:lstStyle/>
          <a:p>
            <a:pPr algn="ctr">
              <a:lnSpc>
                <a:spcPts val="9604"/>
              </a:lnSpc>
              <a:defRPr/>
            </a:pPr>
            <a:r>
              <a:rPr lang="en-US" sz="6850" b="1">
                <a:solidFill>
                  <a:srgbClr val="000000"/>
                </a:solidFill>
                <a:latin typeface="Poppins Bold"/>
                <a:ea typeface="Poppins Bold"/>
                <a:cs typeface="Poppins Bold"/>
              </a:rPr>
              <a:t>Impact &amp; Feasibility</a:t>
            </a:r>
            <a:endParaRPr/>
          </a:p>
        </p:txBody>
      </p:sp>
      <p:sp>
        <p:nvSpPr>
          <p:cNvPr id="1491072266" name="TextBox 29"/>
          <p:cNvSpPr txBox="1"/>
          <p:nvPr/>
        </p:nvSpPr>
        <p:spPr bwMode="auto">
          <a:xfrm>
            <a:off x="1028700" y="3587568"/>
            <a:ext cx="15202012" cy="274679"/>
          </a:xfrm>
          <a:prstGeom prst="rect">
            <a:avLst/>
          </a:prstGeom>
        </p:spPr>
        <p:txBody>
          <a:bodyPr lIns="0" tIns="0" rIns="0" bIns="0" rtlCol="0" anchor="t">
            <a:spAutoFit/>
          </a:bodyPr>
          <a:lstStyle/>
          <a:p>
            <a:pPr>
              <a:defRPr/>
            </a:pPr>
            <a:endParaRPr/>
          </a:p>
        </p:txBody>
      </p:sp>
      <p:sp>
        <p:nvSpPr>
          <p:cNvPr id="226078083" name=""/>
          <p:cNvSpPr txBox="1"/>
          <p:nvPr/>
        </p:nvSpPr>
        <p:spPr bwMode="auto">
          <a:xfrm rot="0" flipH="0" flipV="0">
            <a:off x="1289797" y="2857500"/>
            <a:ext cx="8043771" cy="6492600"/>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800" b="1" i="0" u="none">
                <a:solidFill>
                  <a:schemeClr val="bg1"/>
                </a:solidFill>
                <a:latin typeface="Times New Roman"/>
                <a:ea typeface="Times New Roman"/>
                <a:cs typeface="Times New Roman"/>
              </a:rPr>
              <a:t>Impact</a:t>
            </a:r>
            <a:endParaRPr sz="2800"/>
          </a:p>
          <a:p>
            <a:pPr marL="349965" indent="-349965">
              <a:buAutoNum type="arabicPeriod"/>
              <a:defRPr/>
            </a:pPr>
            <a:r>
              <a:rPr sz="2800" b="1" i="0" u="none">
                <a:solidFill>
                  <a:schemeClr val="accent2">
                    <a:lumMod val="50000"/>
                  </a:schemeClr>
                </a:solidFill>
                <a:latin typeface="Times New Roman"/>
                <a:ea typeface="Times New Roman"/>
                <a:cs typeface="Times New Roman"/>
              </a:rPr>
              <a:t>Improved Patient Outcomes:</a:t>
            </a:r>
            <a:r>
              <a:rPr sz="2800" b="0" i="0" u="none">
                <a:solidFill>
                  <a:schemeClr val="accent2">
                    <a:lumMod val="50000"/>
                  </a:schemeClr>
                </a:solidFill>
                <a:latin typeface="Times New Roman"/>
                <a:ea typeface="Times New Roman"/>
                <a:cs typeface="Times New Roman"/>
              </a:rPr>
              <a:t> </a:t>
            </a:r>
            <a:r>
              <a:rPr sz="2800" b="0" i="0" u="none">
                <a:solidFill>
                  <a:srgbClr val="000000"/>
                </a:solidFill>
                <a:latin typeface="Times New Roman"/>
                <a:ea typeface="Times New Roman"/>
                <a:cs typeface="Times New Roman"/>
              </a:rPr>
              <a:t>Faster assessments and timely doctor connections can prevent complications and save lives.</a:t>
            </a:r>
            <a:endParaRPr sz="2800"/>
          </a:p>
          <a:p>
            <a:pPr marL="349965" indent="-349965">
              <a:buAutoNum type="arabicPeriod"/>
              <a:defRPr/>
            </a:pPr>
            <a:r>
              <a:rPr sz="2800" b="1" i="0" u="none">
                <a:solidFill>
                  <a:schemeClr val="accent2">
                    <a:lumMod val="50000"/>
                  </a:schemeClr>
                </a:solidFill>
                <a:latin typeface="Times New Roman"/>
                <a:ea typeface="Times New Roman"/>
                <a:cs typeface="Times New Roman"/>
              </a:rPr>
              <a:t>Reduced Healthcare Burden:</a:t>
            </a:r>
            <a:r>
              <a:rPr sz="2800" b="0" i="0" u="none">
                <a:solidFill>
                  <a:srgbClr val="000000"/>
                </a:solidFill>
                <a:latin typeface="Times New Roman"/>
                <a:ea typeface="Times New Roman"/>
                <a:cs typeface="Times New Roman"/>
              </a:rPr>
              <a:t> AI filtering of minor cases reduces unnecessary hospital visits, freeing up doctors for critical cases.</a:t>
            </a:r>
            <a:endParaRPr sz="2800"/>
          </a:p>
          <a:p>
            <a:pPr marL="349965" indent="-349965">
              <a:buAutoNum type="arabicPeriod"/>
              <a:defRPr/>
            </a:pPr>
            <a:r>
              <a:rPr sz="2800" b="1" i="0" u="none">
                <a:solidFill>
                  <a:schemeClr val="accent2">
                    <a:lumMod val="50000"/>
                  </a:schemeClr>
                </a:solidFill>
                <a:latin typeface="Times New Roman"/>
                <a:ea typeface="Times New Roman"/>
                <a:cs typeface="Times New Roman"/>
              </a:rPr>
              <a:t>Personalized Care:</a:t>
            </a:r>
            <a:r>
              <a:rPr sz="2800" b="0" i="0" u="none">
                <a:solidFill>
                  <a:schemeClr val="accent2">
                    <a:lumMod val="50000"/>
                  </a:schemeClr>
                </a:solidFill>
                <a:latin typeface="Times New Roman"/>
                <a:ea typeface="Times New Roman"/>
                <a:cs typeface="Times New Roman"/>
              </a:rPr>
              <a:t> </a:t>
            </a:r>
            <a:r>
              <a:rPr sz="2800" b="0" i="0" u="none">
                <a:solidFill>
                  <a:srgbClr val="000000"/>
                </a:solidFill>
                <a:latin typeface="Times New Roman"/>
                <a:ea typeface="Times New Roman"/>
                <a:cs typeface="Times New Roman"/>
              </a:rPr>
              <a:t>Tailored guidance increases adherence to treatment and preventive measures.</a:t>
            </a:r>
            <a:endParaRPr sz="2800" b="0" i="0" u="none">
              <a:solidFill>
                <a:srgbClr val="000000"/>
              </a:solidFill>
              <a:latin typeface="Times New Roman"/>
              <a:ea typeface="Times New Roman"/>
              <a:cs typeface="Times New Roman"/>
            </a:endParaRPr>
          </a:p>
          <a:p>
            <a:pPr marL="349965" indent="-349965">
              <a:buAutoNum type="arabicPeriod"/>
              <a:defRPr/>
            </a:pPr>
            <a:r>
              <a:rPr sz="2800" b="1" i="0" u="none">
                <a:solidFill>
                  <a:schemeClr val="accent2">
                    <a:lumMod val="50000"/>
                  </a:schemeClr>
                </a:solidFill>
                <a:latin typeface="Times New Roman"/>
                <a:ea typeface="Times New Roman"/>
                <a:cs typeface="Times New Roman"/>
              </a:rPr>
              <a:t>Data-Driven Insights:</a:t>
            </a:r>
            <a:r>
              <a:rPr sz="2800" b="0" i="0" u="none">
                <a:solidFill>
                  <a:schemeClr val="accent2">
                    <a:lumMod val="50000"/>
                  </a:schemeClr>
                </a:solidFill>
                <a:latin typeface="Times New Roman"/>
                <a:ea typeface="Times New Roman"/>
                <a:cs typeface="Times New Roman"/>
              </a:rPr>
              <a:t> </a:t>
            </a:r>
            <a:r>
              <a:rPr sz="2800" b="0" i="0" u="none">
                <a:solidFill>
                  <a:srgbClr val="000000"/>
                </a:solidFill>
                <a:latin typeface="Times New Roman"/>
                <a:ea typeface="Times New Roman"/>
                <a:cs typeface="Times New Roman"/>
              </a:rPr>
              <a:t>Aggregated anonymized health data can inform public health strategies and early warnings.</a:t>
            </a:r>
            <a:endParaRPr sz="2800"/>
          </a:p>
          <a:p>
            <a:pPr marL="349965" indent="-349965">
              <a:buAutoNum type="arabicPeriod"/>
              <a:defRPr/>
            </a:pPr>
            <a:r>
              <a:rPr sz="2800" b="1" i="0" u="none">
                <a:solidFill>
                  <a:schemeClr val="accent2">
                    <a:lumMod val="50000"/>
                  </a:schemeClr>
                </a:solidFill>
                <a:latin typeface="Times New Roman"/>
                <a:ea typeface="Times New Roman"/>
                <a:cs typeface="Times New Roman"/>
              </a:rPr>
              <a:t>Enhanced Convenience:</a:t>
            </a:r>
            <a:r>
              <a:rPr sz="2800" b="0" i="0" u="none">
                <a:solidFill>
                  <a:srgbClr val="000000"/>
                </a:solidFill>
                <a:latin typeface="Times New Roman"/>
                <a:ea typeface="Times New Roman"/>
                <a:cs typeface="Times New Roman"/>
              </a:rPr>
              <a:t> Patients get healthcare guidance anytime, anywhere, reducing stress and travel time.</a:t>
            </a:r>
            <a:endParaRPr sz="2800"/>
          </a:p>
        </p:txBody>
      </p:sp>
      <p:sp>
        <p:nvSpPr>
          <p:cNvPr id="1592437112" name=""/>
          <p:cNvSpPr txBox="1"/>
          <p:nvPr/>
        </p:nvSpPr>
        <p:spPr bwMode="auto">
          <a:xfrm rot="0" flipH="0" flipV="0">
            <a:off x="10608851" y="2934729"/>
            <a:ext cx="7321160" cy="60658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800" b="1" i="0" u="none">
                <a:solidFill>
                  <a:schemeClr val="bg1"/>
                </a:solidFill>
                <a:latin typeface="Times New Roman"/>
                <a:ea typeface="Times New Roman"/>
                <a:cs typeface="Times New Roman"/>
              </a:rPr>
              <a:t>Feasibility</a:t>
            </a:r>
            <a:endParaRPr sz="2800"/>
          </a:p>
          <a:p>
            <a:pPr marL="394023" indent="-394023">
              <a:buAutoNum type="arabicPeriod"/>
              <a:defRPr/>
            </a:pPr>
            <a:r>
              <a:rPr sz="2800" b="1" i="0" u="none">
                <a:solidFill>
                  <a:schemeClr val="accent2">
                    <a:lumMod val="50000"/>
                  </a:schemeClr>
                </a:solidFill>
                <a:latin typeface="Times New Roman"/>
                <a:ea typeface="Times New Roman"/>
                <a:cs typeface="Times New Roman"/>
              </a:rPr>
              <a:t>Technology Readiness:</a:t>
            </a:r>
            <a:r>
              <a:rPr sz="2800" b="0" i="0" u="none">
                <a:solidFill>
                  <a:schemeClr val="accent2">
                    <a:lumMod val="50000"/>
                  </a:schemeClr>
                </a:solidFill>
                <a:latin typeface="Times New Roman"/>
                <a:ea typeface="Times New Roman"/>
                <a:cs typeface="Times New Roman"/>
              </a:rPr>
              <a:t> </a:t>
            </a:r>
            <a:r>
              <a:rPr sz="2800" b="0" i="0" u="none">
                <a:solidFill>
                  <a:srgbClr val="000000"/>
                </a:solidFill>
                <a:latin typeface="Times New Roman"/>
                <a:ea typeface="Times New Roman"/>
                <a:cs typeface="Times New Roman"/>
              </a:rPr>
              <a:t>AI symptom checkers and telemedicine platforms already exist; combining them is realistic.</a:t>
            </a:r>
            <a:endParaRPr sz="2800"/>
          </a:p>
          <a:p>
            <a:pPr marL="394023" indent="-394023">
              <a:buAutoNum type="arabicPeriod"/>
              <a:defRPr/>
            </a:pPr>
            <a:r>
              <a:rPr sz="2800" b="1" i="0" u="none">
                <a:solidFill>
                  <a:schemeClr val="accent2">
                    <a:lumMod val="50000"/>
                  </a:schemeClr>
                </a:solidFill>
                <a:latin typeface="Times New Roman"/>
                <a:ea typeface="Times New Roman"/>
                <a:cs typeface="Times New Roman"/>
              </a:rPr>
              <a:t>Integration with Healthcare Providers:</a:t>
            </a:r>
            <a:r>
              <a:rPr sz="2800" b="0" i="0" u="none">
                <a:solidFill>
                  <a:schemeClr val="accent2">
                    <a:lumMod val="50000"/>
                  </a:schemeClr>
                </a:solidFill>
                <a:latin typeface="Times New Roman"/>
                <a:ea typeface="Times New Roman"/>
                <a:cs typeface="Times New Roman"/>
              </a:rPr>
              <a:t> </a:t>
            </a:r>
            <a:r>
              <a:rPr sz="2800" b="0" i="0" u="none">
                <a:solidFill>
                  <a:srgbClr val="000000"/>
                </a:solidFill>
                <a:latin typeface="Times New Roman"/>
                <a:ea typeface="Times New Roman"/>
                <a:cs typeface="Times New Roman"/>
              </a:rPr>
              <a:t>APIs and telehealth networks make doctor connection feasible.</a:t>
            </a:r>
            <a:endParaRPr sz="2800" b="0" i="0" u="none">
              <a:solidFill>
                <a:srgbClr val="000000"/>
              </a:solidFill>
              <a:latin typeface="Times New Roman"/>
              <a:ea typeface="Times New Roman"/>
              <a:cs typeface="Times New Roman"/>
            </a:endParaRPr>
          </a:p>
          <a:p>
            <a:pPr marL="394023" indent="-394023">
              <a:buAutoNum type="arabicPeriod"/>
              <a:defRPr/>
            </a:pPr>
            <a:r>
              <a:rPr sz="2800" b="1" i="0" u="none">
                <a:solidFill>
                  <a:schemeClr val="accent2">
                    <a:lumMod val="50000"/>
                  </a:schemeClr>
                </a:solidFill>
                <a:latin typeface="Times New Roman"/>
                <a:ea typeface="Times New Roman"/>
                <a:cs typeface="Times New Roman"/>
              </a:rPr>
              <a:t>User Adoption:</a:t>
            </a:r>
            <a:r>
              <a:rPr sz="2800" b="0" i="0" u="none">
                <a:solidFill>
                  <a:srgbClr val="FF0000"/>
                </a:solidFill>
                <a:latin typeface="Times New Roman"/>
                <a:ea typeface="Times New Roman"/>
                <a:cs typeface="Times New Roman"/>
              </a:rPr>
              <a:t> </a:t>
            </a:r>
            <a:r>
              <a:rPr sz="2800" b="0" i="0" u="none">
                <a:solidFill>
                  <a:srgbClr val="000000"/>
                </a:solidFill>
                <a:latin typeface="Times New Roman"/>
                <a:ea typeface="Times New Roman"/>
                <a:cs typeface="Times New Roman"/>
              </a:rPr>
              <a:t>Mobile-first, easy-to-use interface encourages widespread use.</a:t>
            </a:r>
            <a:endParaRPr sz="2800" b="0" i="0" u="none">
              <a:solidFill>
                <a:srgbClr val="000000"/>
              </a:solidFill>
              <a:latin typeface="Times New Roman"/>
              <a:ea typeface="Times New Roman"/>
              <a:cs typeface="Times New Roman"/>
            </a:endParaRPr>
          </a:p>
          <a:p>
            <a:pPr marL="394023" indent="-394023">
              <a:buAutoNum type="arabicPeriod"/>
              <a:defRPr/>
            </a:pPr>
            <a:r>
              <a:rPr sz="2800" b="1" i="0" u="none">
                <a:solidFill>
                  <a:schemeClr val="accent2">
                    <a:lumMod val="50000"/>
                  </a:schemeClr>
                </a:solidFill>
                <a:latin typeface="Times New Roman"/>
                <a:ea typeface="Times New Roman"/>
                <a:cs typeface="Times New Roman"/>
              </a:rPr>
              <a:t>Data Securit</a:t>
            </a:r>
            <a:r>
              <a:rPr sz="2800" b="1" i="0" u="none">
                <a:solidFill>
                  <a:schemeClr val="accent2">
                    <a:lumMod val="50000"/>
                  </a:schemeClr>
                </a:solidFill>
                <a:latin typeface="Times New Roman"/>
                <a:ea typeface="Times New Roman"/>
                <a:cs typeface="Times New Roman"/>
              </a:rPr>
              <a:t>y</a:t>
            </a:r>
            <a:r>
              <a:rPr sz="2800" b="1" i="0" u="none">
                <a:solidFill>
                  <a:schemeClr val="accent2">
                    <a:lumMod val="50000"/>
                  </a:schemeClr>
                </a:solidFill>
                <a:latin typeface="Times New Roman"/>
                <a:ea typeface="Times New Roman"/>
                <a:cs typeface="Times New Roman"/>
              </a:rPr>
              <a:t>:</a:t>
            </a:r>
            <a:r>
              <a:rPr sz="2800" b="0" i="0" u="none">
                <a:solidFill>
                  <a:srgbClr val="FF0000"/>
                </a:solidFill>
                <a:latin typeface="Times New Roman"/>
                <a:ea typeface="Times New Roman"/>
                <a:cs typeface="Times New Roman"/>
              </a:rPr>
              <a:t> </a:t>
            </a:r>
            <a:r>
              <a:rPr sz="2800" b="0" i="0" u="none">
                <a:solidFill>
                  <a:srgbClr val="000000"/>
                </a:solidFill>
                <a:latin typeface="Times New Roman"/>
                <a:ea typeface="Times New Roman"/>
                <a:cs typeface="Times New Roman"/>
              </a:rPr>
              <a:t>Secure cloud storage and privacy protocols ensure compliance with healthcare standards.</a:t>
            </a:r>
            <a:endParaRPr sz="2800" b="0" i="0" u="none">
              <a:solidFill>
                <a:srgbClr val="000000"/>
              </a:solidFill>
              <a:latin typeface="Times New Roman"/>
              <a:ea typeface="Times New Roman"/>
              <a:cs typeface="Times New Roman"/>
            </a:endParaRPr>
          </a:p>
          <a:p>
            <a:pPr marL="394023" indent="-394023">
              <a:buAutoNum type="arabicPeriod"/>
              <a:defRPr/>
            </a:pPr>
            <a:r>
              <a:rPr sz="2800" b="1" i="0" u="none">
                <a:solidFill>
                  <a:schemeClr val="accent2">
                    <a:lumMod val="50000"/>
                  </a:schemeClr>
                </a:solidFill>
                <a:latin typeface="Times New Roman"/>
                <a:ea typeface="Times New Roman"/>
                <a:cs typeface="Times New Roman"/>
              </a:rPr>
              <a:t>Scalability:</a:t>
            </a:r>
            <a:r>
              <a:rPr sz="2800" b="0" i="0" u="none">
                <a:solidFill>
                  <a:srgbClr val="000000"/>
                </a:solidFill>
                <a:latin typeface="Times New Roman"/>
                <a:ea typeface="Times New Roman"/>
                <a:cs typeface="Times New Roman"/>
              </a:rPr>
              <a:t> The platform can start regionally and scale nationwide or globally.</a:t>
            </a:r>
            <a:endParaRPr sz="28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1579738" name=""/>
          <p:cNvSpPr/>
          <p:nvPr/>
        </p:nvSpPr>
        <p:spPr bwMode="auto">
          <a:xfrm rot="0" flipH="0" flipV="0">
            <a:off x="10248445" y="1828800"/>
            <a:ext cx="8083378" cy="854572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sp>
      <p:sp>
        <p:nvSpPr>
          <p:cNvPr id="1313243914" name=""/>
          <p:cNvSpPr/>
          <p:nvPr/>
        </p:nvSpPr>
        <p:spPr bwMode="auto">
          <a:xfrm rot="0" flipH="0" flipV="0">
            <a:off x="1058108" y="2600067"/>
            <a:ext cx="9113108" cy="6667499"/>
          </a:xfrm>
          <a:prstGeom prst="actionButtonBlank">
            <a:avLst/>
          </a:prstGeom>
        </p:spPr>
        <p:style>
          <a:lnRef idx="2">
            <a:schemeClr val="accent1">
              <a:shade val="50000"/>
            </a:schemeClr>
          </a:lnRef>
          <a:fillRef idx="1">
            <a:schemeClr val="accent1"/>
          </a:fillRef>
          <a:effectRef idx="0">
            <a:schemeClr val="accent1"/>
          </a:effectRef>
          <a:fontRef idx="minor">
            <a:schemeClr val="lt1"/>
          </a:fontRef>
        </p:style>
      </p:sp>
      <p:grpSp>
        <p:nvGrpSpPr>
          <p:cNvPr id="2035593596" name="Group 2"/>
          <p:cNvGrpSpPr/>
          <p:nvPr/>
        </p:nvGrpSpPr>
        <p:grpSpPr bwMode="auto">
          <a:xfrm>
            <a:off x="0" y="0"/>
            <a:ext cx="18288000" cy="10972800"/>
            <a:chOff x="0" y="0"/>
            <a:chExt cx="18288000" cy="10972800"/>
          </a:xfrm>
        </p:grpSpPr>
        <p:sp>
          <p:nvSpPr>
            <p:cNvPr id="3" name="Freeform 3"/>
            <p:cNvSpPr/>
            <p:nvPr/>
          </p:nvSpPr>
          <p:spPr bwMode="auto">
            <a:xfrm>
              <a:off x="14630400" y="73152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4" name="Freeform 4"/>
            <p:cNvSpPr/>
            <p:nvPr/>
          </p:nvSpPr>
          <p:spPr bwMode="auto">
            <a:xfrm>
              <a:off x="0" y="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5" name="Freeform 5"/>
            <p:cNvSpPr/>
            <p:nvPr/>
          </p:nvSpPr>
          <p:spPr bwMode="auto">
            <a:xfrm>
              <a:off x="0" y="73152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6" name="Freeform 6"/>
            <p:cNvSpPr/>
            <p:nvPr/>
          </p:nvSpPr>
          <p:spPr bwMode="auto">
            <a:xfrm>
              <a:off x="0" y="36576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17000"/>
              </a:blip>
              <a:stretch/>
            </a:blipFill>
          </p:spPr>
        </p:sp>
        <p:sp>
          <p:nvSpPr>
            <p:cNvPr id="7" name="Freeform 7"/>
            <p:cNvSpPr/>
            <p:nvPr/>
          </p:nvSpPr>
          <p:spPr bwMode="auto">
            <a:xfrm>
              <a:off x="7315200" y="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8" name="Freeform 8"/>
            <p:cNvSpPr/>
            <p:nvPr/>
          </p:nvSpPr>
          <p:spPr bwMode="auto">
            <a:xfrm>
              <a:off x="7315200" y="73152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9" name="Freeform 9"/>
            <p:cNvSpPr/>
            <p:nvPr/>
          </p:nvSpPr>
          <p:spPr bwMode="auto">
            <a:xfrm>
              <a:off x="7315200" y="3663105"/>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0" name="Freeform 10"/>
            <p:cNvSpPr/>
            <p:nvPr/>
          </p:nvSpPr>
          <p:spPr bwMode="auto">
            <a:xfrm>
              <a:off x="14630400" y="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1" name="Freeform 11"/>
            <p:cNvSpPr/>
            <p:nvPr/>
          </p:nvSpPr>
          <p:spPr bwMode="auto">
            <a:xfrm>
              <a:off x="14630400" y="36576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17000"/>
              </a:blip>
              <a:stretch/>
            </a:blipFill>
          </p:spPr>
        </p:sp>
        <p:sp>
          <p:nvSpPr>
            <p:cNvPr id="12" name="Freeform 12"/>
            <p:cNvSpPr/>
            <p:nvPr/>
          </p:nvSpPr>
          <p:spPr bwMode="auto">
            <a:xfrm>
              <a:off x="3657600" y="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3" name="Freeform 13"/>
            <p:cNvSpPr/>
            <p:nvPr/>
          </p:nvSpPr>
          <p:spPr bwMode="auto">
            <a:xfrm>
              <a:off x="3657600" y="73152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4" name="Freeform 14"/>
            <p:cNvSpPr/>
            <p:nvPr/>
          </p:nvSpPr>
          <p:spPr bwMode="auto">
            <a:xfrm>
              <a:off x="3657600" y="3663105"/>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5" name="Freeform 15"/>
            <p:cNvSpPr/>
            <p:nvPr/>
          </p:nvSpPr>
          <p:spPr bwMode="auto">
            <a:xfrm>
              <a:off x="10972799" y="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6" name="Freeform 16"/>
            <p:cNvSpPr/>
            <p:nvPr/>
          </p:nvSpPr>
          <p:spPr bwMode="auto">
            <a:xfrm>
              <a:off x="10972799" y="7315200"/>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7" name="Freeform 17"/>
            <p:cNvSpPr/>
            <p:nvPr/>
          </p:nvSpPr>
          <p:spPr bwMode="auto">
            <a:xfrm>
              <a:off x="10998543" y="3631856"/>
              <a:ext cx="3657600" cy="36576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txBody>
            <a:bodyPr anchor="ctr"/>
            <a:p>
              <a:pPr algn="ctr">
                <a:defRPr/>
              </a:pPr>
              <a:endParaRPr/>
            </a:p>
          </p:txBody>
        </p:sp>
      </p:grpSp>
      <p:grpSp>
        <p:nvGrpSpPr>
          <p:cNvPr id="512948562" name="Group 18"/>
          <p:cNvGrpSpPr/>
          <p:nvPr/>
        </p:nvGrpSpPr>
        <p:grpSpPr bwMode="auto">
          <a:xfrm>
            <a:off x="14407420" y="134405"/>
            <a:ext cx="3519315" cy="934145"/>
            <a:chOff x="0" y="0"/>
            <a:chExt cx="4692420" cy="1245527"/>
          </a:xfrm>
        </p:grpSpPr>
        <p:sp>
          <p:nvSpPr>
            <p:cNvPr id="19" name="Freeform 19"/>
            <p:cNvSpPr/>
            <p:nvPr/>
          </p:nvSpPr>
          <p:spPr bwMode="auto">
            <a:xfrm>
              <a:off x="1643291" y="233036"/>
              <a:ext cx="1118835" cy="863153"/>
            </a:xfrm>
            <a:custGeom>
              <a:avLst/>
              <a:gdLst/>
              <a:ahLst/>
              <a:cxnLst/>
              <a:rect l="l" t="t" r="r" b="b"/>
              <a:pathLst>
                <a:path w="1118835" h="863153" fill="norm" stroke="1" extrusionOk="0">
                  <a:moveTo>
                    <a:pt x="0" y="0"/>
                  </a:moveTo>
                  <a:lnTo>
                    <a:pt x="1118835" y="0"/>
                  </a:lnTo>
                  <a:lnTo>
                    <a:pt x="1118835" y="863153"/>
                  </a:lnTo>
                  <a:lnTo>
                    <a:pt x="0" y="863153"/>
                  </a:lnTo>
                  <a:lnTo>
                    <a:pt x="0" y="0"/>
                  </a:lnTo>
                  <a:close/>
                </a:path>
              </a:pathLst>
            </a:custGeom>
            <a:blipFill>
              <a:blip r:embed="rId5"/>
              <a:stretch/>
            </a:blipFill>
          </p:spPr>
        </p:sp>
        <p:sp>
          <p:nvSpPr>
            <p:cNvPr id="20" name="Freeform 20"/>
            <p:cNvSpPr/>
            <p:nvPr/>
          </p:nvSpPr>
          <p:spPr bwMode="auto">
            <a:xfrm>
              <a:off x="0" y="0"/>
              <a:ext cx="1292661" cy="1096189"/>
            </a:xfrm>
            <a:custGeom>
              <a:avLst/>
              <a:gdLst/>
              <a:ahLst/>
              <a:cxnLst/>
              <a:rect l="l" t="t" r="r" b="b"/>
              <a:pathLst>
                <a:path w="1292661" h="1096189" fill="norm" stroke="1" extrusionOk="0">
                  <a:moveTo>
                    <a:pt x="0" y="0"/>
                  </a:moveTo>
                  <a:lnTo>
                    <a:pt x="1292661" y="0"/>
                  </a:lnTo>
                  <a:lnTo>
                    <a:pt x="1292661" y="1096189"/>
                  </a:lnTo>
                  <a:lnTo>
                    <a:pt x="0" y="1096189"/>
                  </a:lnTo>
                  <a:lnTo>
                    <a:pt x="0" y="0"/>
                  </a:lnTo>
                  <a:close/>
                </a:path>
              </a:pathLst>
            </a:custGeom>
            <a:blipFill>
              <a:blip r:embed="rId6"/>
              <a:stretch/>
            </a:blipFill>
          </p:spPr>
        </p:sp>
        <p:sp>
          <p:nvSpPr>
            <p:cNvPr id="21" name="Freeform 21"/>
            <p:cNvSpPr/>
            <p:nvPr/>
          </p:nvSpPr>
          <p:spPr bwMode="auto">
            <a:xfrm>
              <a:off x="2905209" y="200391"/>
              <a:ext cx="1787211" cy="1045135"/>
            </a:xfrm>
            <a:custGeom>
              <a:avLst/>
              <a:gdLst/>
              <a:ahLst/>
              <a:cxnLst/>
              <a:rect l="l" t="t" r="r" b="b"/>
              <a:pathLst>
                <a:path w="1787211" h="1045135" fill="norm" stroke="1" extrusionOk="0">
                  <a:moveTo>
                    <a:pt x="0" y="0"/>
                  </a:moveTo>
                  <a:lnTo>
                    <a:pt x="1787211" y="0"/>
                  </a:lnTo>
                  <a:lnTo>
                    <a:pt x="1787211" y="1045136"/>
                  </a:lnTo>
                  <a:lnTo>
                    <a:pt x="0" y="1045136"/>
                  </a:lnTo>
                  <a:lnTo>
                    <a:pt x="0" y="0"/>
                  </a:lnTo>
                  <a:close/>
                </a:path>
              </a:pathLst>
            </a:custGeom>
            <a:blipFill>
              <a:blip r:embed="rId7"/>
              <a:stretch>
                <a:fillRect l="-15589" t="-14282" r="-14525" b="0"/>
              </a:stretch>
            </a:blipFill>
          </p:spPr>
        </p:sp>
      </p:grpSp>
      <p:grpSp>
        <p:nvGrpSpPr>
          <p:cNvPr id="1298182476" name="Group 22"/>
          <p:cNvGrpSpPr/>
          <p:nvPr/>
        </p:nvGrpSpPr>
        <p:grpSpPr bwMode="auto">
          <a:xfrm>
            <a:off x="545875" y="-799311"/>
            <a:ext cx="965651" cy="1867862"/>
            <a:chOff x="0" y="0"/>
            <a:chExt cx="1287534" cy="2490482"/>
          </a:xfrm>
        </p:grpSpPr>
        <p:grpSp>
          <p:nvGrpSpPr>
            <p:cNvPr id="23" name="Group 23"/>
            <p:cNvGrpSpPr/>
            <p:nvPr/>
          </p:nvGrpSpPr>
          <p:grpSpPr bwMode="auto">
            <a:xfrm>
              <a:off x="79936" y="0"/>
              <a:ext cx="1169956" cy="2490482"/>
              <a:chOff x="0" y="0"/>
              <a:chExt cx="249524" cy="531162"/>
            </a:xfrm>
          </p:grpSpPr>
          <p:sp>
            <p:nvSpPr>
              <p:cNvPr id="24" name="Freeform 24"/>
              <p:cNvSpPr/>
              <p:nvPr/>
            </p:nvSpPr>
            <p:spPr bwMode="auto">
              <a:xfrm>
                <a:off x="0" y="0"/>
                <a:ext cx="249524" cy="531162"/>
              </a:xfrm>
              <a:custGeom>
                <a:avLst/>
                <a:gdLst/>
                <a:ahLst/>
                <a:cxnLst/>
                <a:rect l="l" t="t" r="r" b="b"/>
                <a:pathLst>
                  <a:path w="249524" h="531162" fill="norm" stroke="1" extrusionOk="0">
                    <a:moveTo>
                      <a:pt x="124762" y="0"/>
                    </a:moveTo>
                    <a:lnTo>
                      <a:pt x="124762" y="0"/>
                    </a:lnTo>
                    <a:cubicBezTo>
                      <a:pt x="193666" y="0"/>
                      <a:pt x="249524" y="55858"/>
                      <a:pt x="249524" y="124762"/>
                    </a:cubicBezTo>
                    <a:lnTo>
                      <a:pt x="249524" y="406400"/>
                    </a:lnTo>
                    <a:cubicBezTo>
                      <a:pt x="249524" y="439489"/>
                      <a:pt x="236380" y="471223"/>
                      <a:pt x="212982" y="494620"/>
                    </a:cubicBezTo>
                    <a:cubicBezTo>
                      <a:pt x="189585" y="518018"/>
                      <a:pt x="157851" y="531162"/>
                      <a:pt x="124762" y="531162"/>
                    </a:cubicBezTo>
                    <a:lnTo>
                      <a:pt x="124762" y="531162"/>
                    </a:lnTo>
                    <a:cubicBezTo>
                      <a:pt x="91673" y="531162"/>
                      <a:pt x="59939" y="518018"/>
                      <a:pt x="36542" y="494620"/>
                    </a:cubicBezTo>
                    <a:cubicBezTo>
                      <a:pt x="13145" y="471223"/>
                      <a:pt x="0" y="439489"/>
                      <a:pt x="0" y="406400"/>
                    </a:cubicBezTo>
                    <a:lnTo>
                      <a:pt x="0" y="124762"/>
                    </a:lnTo>
                    <a:cubicBezTo>
                      <a:pt x="0" y="91673"/>
                      <a:pt x="13145" y="59939"/>
                      <a:pt x="36542" y="36542"/>
                    </a:cubicBezTo>
                    <a:cubicBezTo>
                      <a:pt x="59939" y="13145"/>
                      <a:pt x="91673" y="0"/>
                      <a:pt x="124762" y="0"/>
                    </a:cubicBezTo>
                    <a:close/>
                  </a:path>
                </a:pathLst>
              </a:custGeom>
              <a:solidFill>
                <a:srgbClr val="030303"/>
              </a:solidFill>
            </p:spPr>
          </p:sp>
          <p:sp>
            <p:nvSpPr>
              <p:cNvPr id="25" name="TextBox 25"/>
              <p:cNvSpPr txBox="1"/>
              <p:nvPr/>
            </p:nvSpPr>
            <p:spPr bwMode="auto">
              <a:xfrm>
                <a:off x="0" y="-66675"/>
                <a:ext cx="249524" cy="597837"/>
              </a:xfrm>
              <a:prstGeom prst="rect">
                <a:avLst/>
              </a:prstGeom>
              <a:grpFill/>
            </p:spPr>
            <p:txBody>
              <a:bodyPr lIns="50800" tIns="50800" rIns="50800" bIns="50800" rtlCol="0" anchor="ctr"/>
              <a:lstStyle/>
              <a:p>
                <a:pPr algn="ctr">
                  <a:lnSpc>
                    <a:spcPts val="4759"/>
                  </a:lnSpc>
                  <a:defRPr/>
                </a:pPr>
                <a:endParaRPr/>
              </a:p>
            </p:txBody>
          </p:sp>
        </p:grpSp>
        <p:sp>
          <p:nvSpPr>
            <p:cNvPr id="26" name="Freeform 26"/>
            <p:cNvSpPr/>
            <p:nvPr/>
          </p:nvSpPr>
          <p:spPr bwMode="auto">
            <a:xfrm>
              <a:off x="0" y="1293424"/>
              <a:ext cx="1287534" cy="1163491"/>
            </a:xfrm>
            <a:custGeom>
              <a:avLst/>
              <a:gdLst/>
              <a:ahLst/>
              <a:cxnLst/>
              <a:rect l="l" t="t" r="r" b="b"/>
              <a:pathLst>
                <a:path w="1287534" h="1163491" fill="norm" stroke="1" extrusionOk="0">
                  <a:moveTo>
                    <a:pt x="0" y="0"/>
                  </a:moveTo>
                  <a:lnTo>
                    <a:pt x="1287534" y="0"/>
                  </a:lnTo>
                  <a:lnTo>
                    <a:pt x="1287534" y="1163490"/>
                  </a:lnTo>
                  <a:lnTo>
                    <a:pt x="0" y="1163490"/>
                  </a:lnTo>
                  <a:lnTo>
                    <a:pt x="0" y="0"/>
                  </a:lnTo>
                  <a:close/>
                </a:path>
              </a:pathLst>
            </a:custGeom>
            <a:blipFill>
              <a:blip r:embed="rId8"/>
              <a:stretch>
                <a:fillRect l="0" t="-489" r="0" b="-489"/>
              </a:stretch>
            </a:blipFill>
          </p:spPr>
        </p:sp>
      </p:grpSp>
      <p:sp>
        <p:nvSpPr>
          <p:cNvPr id="129853993" name="TextBox 27"/>
          <p:cNvSpPr txBox="1"/>
          <p:nvPr/>
        </p:nvSpPr>
        <p:spPr bwMode="auto">
          <a:xfrm>
            <a:off x="463893" y="9719501"/>
            <a:ext cx="5201002" cy="333700"/>
          </a:xfrm>
          <a:prstGeom prst="rect">
            <a:avLst/>
          </a:prstGeom>
        </p:spPr>
        <p:txBody>
          <a:bodyPr lIns="0" tIns="0" rIns="0" bIns="0" rtlCol="0" anchor="t">
            <a:spAutoFit/>
          </a:bodyPr>
          <a:lstStyle/>
          <a:p>
            <a:pPr algn="ctr">
              <a:lnSpc>
                <a:spcPts val="2610"/>
              </a:lnSpc>
              <a:defRPr/>
            </a:pPr>
            <a:r>
              <a:rPr lang="en-US" sz="1850">
                <a:solidFill>
                  <a:srgbClr val="000000"/>
                </a:solidFill>
                <a:latin typeface="Poppins"/>
                <a:ea typeface="Poppins"/>
                <a:cs typeface="Poppins"/>
              </a:rPr>
              <a:t>Central India Hackathon 3.0 • SDG 3 &amp; SDG 9</a:t>
            </a:r>
            <a:endParaRPr/>
          </a:p>
        </p:txBody>
      </p:sp>
      <p:sp>
        <p:nvSpPr>
          <p:cNvPr id="444306574" name="TextBox 28"/>
          <p:cNvSpPr txBox="1"/>
          <p:nvPr/>
        </p:nvSpPr>
        <p:spPr bwMode="auto">
          <a:xfrm>
            <a:off x="1926891" y="593403"/>
            <a:ext cx="13919353" cy="1235396"/>
          </a:xfrm>
          <a:prstGeom prst="rect">
            <a:avLst/>
          </a:prstGeom>
        </p:spPr>
        <p:txBody>
          <a:bodyPr lIns="0" tIns="0" rIns="0" bIns="0" rtlCol="0" anchor="t">
            <a:spAutoFit/>
          </a:bodyPr>
          <a:lstStyle/>
          <a:p>
            <a:pPr algn="ctr">
              <a:lnSpc>
                <a:spcPts val="9604"/>
              </a:lnSpc>
              <a:defRPr/>
            </a:pPr>
            <a:r>
              <a:rPr lang="en-US" sz="6850" b="1">
                <a:solidFill>
                  <a:srgbClr val="000000"/>
                </a:solidFill>
                <a:latin typeface="Poppins Bold"/>
                <a:ea typeface="Poppins Bold"/>
                <a:cs typeface="Poppins Bold"/>
              </a:rPr>
              <a:t>Revenue Model &amp; Future Scope </a:t>
            </a:r>
            <a:endParaRPr/>
          </a:p>
        </p:txBody>
      </p:sp>
      <p:sp>
        <p:nvSpPr>
          <p:cNvPr id="2127460452" name="TextBox 29"/>
          <p:cNvSpPr txBox="1"/>
          <p:nvPr/>
        </p:nvSpPr>
        <p:spPr bwMode="auto">
          <a:xfrm flipH="0" flipV="0">
            <a:off x="1109580" y="2619901"/>
            <a:ext cx="9449943" cy="6401159"/>
          </a:xfrm>
          <a:prstGeom prst="rect">
            <a:avLst/>
          </a:prstGeom>
        </p:spPr>
        <p:txBody>
          <a:bodyPr lIns="0" tIns="0" rIns="0" bIns="0" rtlCol="0" anchor="t">
            <a:spAutoFit/>
          </a:bodyPr>
          <a:lstStyle/>
          <a:p>
            <a:pPr>
              <a:defRPr/>
            </a:pPr>
            <a:r>
              <a:rPr lang="en-US" sz="2800" b="1" i="0" u="none" strike="noStrike" cap="none" spc="0">
                <a:solidFill>
                  <a:schemeClr val="accent2">
                    <a:lumMod val="50000"/>
                  </a:schemeClr>
                </a:solidFill>
                <a:latin typeface="Poppins"/>
                <a:ea typeface="Poppins"/>
                <a:cs typeface="Poppins"/>
              </a:rPr>
              <a:t>Revenue Model</a:t>
            </a:r>
            <a:endParaRPr sz="2800" b="0" i="0" u="none" strike="noStrike" cap="none" spc="0">
              <a:solidFill>
                <a:srgbClr val="000000"/>
              </a:solidFill>
              <a:latin typeface="Poppins"/>
              <a:cs typeface="Poppins"/>
            </a:endParaRPr>
          </a:p>
          <a:p>
            <a:pPr marL="394023" indent="-394023">
              <a:buAutoNum type="arabicPeriod"/>
              <a:defRPr/>
            </a:pPr>
            <a:r>
              <a:rPr lang="en-US" sz="2800" b="0" i="0" u="none" strike="noStrike" cap="none" spc="0">
                <a:solidFill>
                  <a:srgbClr val="000000"/>
                </a:solidFill>
                <a:latin typeface="JetBrains Mono ExtraBold"/>
                <a:ea typeface="JetBrains Mono ExtraBold"/>
                <a:cs typeface="JetBrains Mono ExtraBold"/>
              </a:rPr>
              <a:t>Freemiu</a:t>
            </a:r>
            <a:r>
              <a:rPr lang="en-US" sz="2800" b="0" i="0" u="none" strike="noStrike" cap="none" spc="0">
                <a:solidFill>
                  <a:srgbClr val="000000"/>
                </a:solidFill>
                <a:latin typeface="JetBrains Mono ExtraBold"/>
                <a:ea typeface="JetBrains Mono ExtraBold"/>
                <a:cs typeface="JetBrains Mono ExtraBold"/>
              </a:rPr>
              <a:t>m Model</a:t>
            </a:r>
            <a:endParaRPr sz="2800" b="0" i="0" u="none" strike="noStrike" cap="none" spc="0">
              <a:solidFill>
                <a:srgbClr val="000000"/>
              </a:solidFill>
              <a:latin typeface="Poppins"/>
              <a:cs typeface="Poppins"/>
            </a:endParaRPr>
          </a:p>
          <a:p>
            <a:pPr marL="794073" lvl="1" indent="-394023">
              <a:buFont typeface="Arial"/>
              <a:buChar char="•"/>
              <a:defRPr/>
            </a:pPr>
            <a:r>
              <a:rPr lang="en-US" sz="2800" b="0" i="0" u="none" strike="noStrike" cap="none" spc="0">
                <a:solidFill>
                  <a:schemeClr val="bg1"/>
                </a:solidFill>
                <a:latin typeface="Poppins"/>
                <a:ea typeface="Poppins"/>
                <a:cs typeface="Poppins"/>
              </a:rPr>
              <a:t>Free: AI symptom check, basic health guidance</a:t>
            </a:r>
            <a:endParaRPr sz="2800" b="0" i="0" u="none" strike="noStrike" cap="none" spc="0">
              <a:solidFill>
                <a:schemeClr val="bg1"/>
              </a:solidFill>
              <a:latin typeface="Poppins"/>
              <a:cs typeface="Poppins"/>
            </a:endParaRPr>
          </a:p>
          <a:p>
            <a:pPr marL="794073" lvl="1" indent="-394023">
              <a:buFont typeface="Arial"/>
              <a:buChar char="•"/>
              <a:defRPr/>
            </a:pPr>
            <a:r>
              <a:rPr lang="en-US" sz="2800" b="0" i="0" u="none" strike="noStrike" cap="none" spc="0">
                <a:solidFill>
                  <a:schemeClr val="bg1"/>
                </a:solidFill>
                <a:latin typeface="Poppins"/>
                <a:ea typeface="Poppins"/>
                <a:cs typeface="Poppins"/>
              </a:rPr>
              <a:t>Premium:</a:t>
            </a:r>
            <a:r>
              <a:rPr sz="2800">
                <a:solidFill>
                  <a:schemeClr val="bg1"/>
                </a:solidFill>
              </a:rPr>
              <a:t> </a:t>
            </a:r>
            <a:r>
              <a:rPr lang="en-US" sz="2800" b="0" i="0" u="none" strike="noStrike" cap="none" spc="0">
                <a:solidFill>
                  <a:schemeClr val="bg1"/>
                </a:solidFill>
                <a:latin typeface="Poppins"/>
                <a:ea typeface="Poppins"/>
                <a:cs typeface="Poppins"/>
              </a:rPr>
              <a:t>Instant doctor consultations</a:t>
            </a:r>
            <a:endParaRPr sz="2800" b="0" i="0" u="none" strike="noStrike" cap="none" spc="0">
              <a:solidFill>
                <a:schemeClr val="bg1"/>
              </a:solidFill>
              <a:latin typeface="Poppins"/>
              <a:cs typeface="Poppins"/>
            </a:endParaRPr>
          </a:p>
          <a:p>
            <a:pPr marL="794073" lvl="1" indent="-394023">
              <a:buFont typeface="Arial"/>
              <a:buChar char="•"/>
              <a:defRPr/>
            </a:pPr>
            <a:r>
              <a:rPr lang="en-US" sz="2800" b="0" i="0" u="none" strike="noStrike" cap="none" spc="0">
                <a:solidFill>
                  <a:schemeClr val="bg1"/>
                </a:solidFill>
                <a:latin typeface="Poppins"/>
                <a:ea typeface="Poppins"/>
                <a:cs typeface="Poppins"/>
              </a:rPr>
              <a:t>Priority access</a:t>
            </a:r>
            <a:endParaRPr sz="2800" b="0" i="0" u="none" strike="noStrike" cap="none" spc="0">
              <a:solidFill>
                <a:schemeClr val="bg1"/>
              </a:solidFill>
              <a:latin typeface="Poppins"/>
              <a:ea typeface="Poppins"/>
              <a:cs typeface="Poppins"/>
            </a:endParaRPr>
          </a:p>
          <a:p>
            <a:pPr marL="794073" lvl="1" indent="-394023">
              <a:buFont typeface="Arial"/>
              <a:buChar char="•"/>
              <a:defRPr/>
            </a:pPr>
            <a:r>
              <a:rPr lang="en-US" sz="2800" b="0" i="0" u="none" strike="noStrike" cap="none" spc="0">
                <a:solidFill>
                  <a:schemeClr val="bg1"/>
                </a:solidFill>
                <a:latin typeface="Poppins"/>
                <a:ea typeface="Poppins"/>
                <a:cs typeface="Poppins"/>
              </a:rPr>
              <a:t>Detailed health reports</a:t>
            </a:r>
            <a:endParaRPr lang="en-US" sz="2800" b="0" i="0" u="none" strike="noStrike" cap="none" spc="0">
              <a:solidFill>
                <a:srgbClr val="000000"/>
              </a:solidFill>
              <a:latin typeface="Poppins"/>
              <a:ea typeface="Poppins"/>
              <a:cs typeface="Poppins"/>
            </a:endParaRPr>
          </a:p>
          <a:p>
            <a:pPr marL="394023" lvl="0" indent="-394023">
              <a:buAutoNum type="arabicPeriod"/>
              <a:defRPr/>
            </a:pPr>
            <a:r>
              <a:rPr lang="en-US" sz="2800" b="0" i="0" u="none" strike="noStrike" cap="none" spc="0">
                <a:solidFill>
                  <a:srgbClr val="000000"/>
                </a:solidFill>
                <a:latin typeface="JetBrains Mono ExtraBold"/>
                <a:ea typeface="JetBrains Mono ExtraBold"/>
                <a:cs typeface="JetBrains Mono ExtraBold"/>
              </a:rPr>
              <a:t>Pay-Per-Consultation</a:t>
            </a:r>
            <a:endParaRPr sz="2800" b="0" i="0" u="none" strike="noStrike" cap="none" spc="0">
              <a:solidFill>
                <a:srgbClr val="000000"/>
              </a:solidFill>
              <a:latin typeface="Poppins"/>
              <a:cs typeface="Poppins"/>
            </a:endParaRPr>
          </a:p>
          <a:p>
            <a:pPr marL="851223" lvl="1" indent="-394023">
              <a:buFont typeface="Arial"/>
              <a:buChar char="•"/>
              <a:defRPr/>
            </a:pPr>
            <a:r>
              <a:rPr lang="en-US" sz="2800" b="0" i="0" u="none" strike="noStrike" cap="none" spc="0">
                <a:solidFill>
                  <a:schemeClr val="bg1"/>
                </a:solidFill>
                <a:latin typeface="Poppins"/>
                <a:ea typeface="Poppins"/>
                <a:cs typeface="Poppins"/>
              </a:rPr>
              <a:t>Users pay only when they connect with a doctor</a:t>
            </a:r>
            <a:r>
              <a:rPr lang="en-US" sz="2800" b="0" i="0" u="none" strike="noStrike" cap="none" spc="0">
                <a:solidFill>
                  <a:schemeClr val="bg1"/>
                </a:solidFill>
                <a:latin typeface="Poppins"/>
                <a:ea typeface="Poppins"/>
                <a:cs typeface="Poppins"/>
              </a:rPr>
              <a:t>.</a:t>
            </a:r>
            <a:endParaRPr sz="2800" b="0" i="0" u="none" strike="noStrike" cap="none" spc="0">
              <a:solidFill>
                <a:schemeClr val="bg1"/>
              </a:solidFill>
              <a:latin typeface="Poppins"/>
              <a:ea typeface="Poppins"/>
              <a:cs typeface="Poppins"/>
            </a:endParaRPr>
          </a:p>
          <a:p>
            <a:pPr marL="851223" lvl="1" indent="-394023">
              <a:buFont typeface="Arial"/>
              <a:buChar char="•"/>
              <a:defRPr/>
            </a:pPr>
            <a:r>
              <a:rPr lang="en-US" sz="2800" b="0" i="0" u="none" strike="noStrike" cap="none" spc="0">
                <a:solidFill>
                  <a:schemeClr val="bg1"/>
                </a:solidFill>
                <a:latin typeface="Poppins"/>
                <a:ea typeface="Poppins"/>
                <a:cs typeface="Poppins"/>
              </a:rPr>
              <a:t>Platform takes a commission per consultation</a:t>
            </a:r>
            <a:endParaRPr sz="2800" b="0" i="0" u="none" strike="noStrike" cap="none" spc="0">
              <a:solidFill>
                <a:srgbClr val="000000"/>
              </a:solidFill>
              <a:latin typeface="Poppins"/>
              <a:cs typeface="Poppins"/>
            </a:endParaRPr>
          </a:p>
          <a:p>
            <a:pPr>
              <a:defRPr/>
            </a:pPr>
            <a:r>
              <a:rPr lang="en-US" sz="2800" b="0" i="0" u="none" strike="noStrike" cap="none" spc="0">
                <a:solidFill>
                  <a:srgbClr val="000000"/>
                </a:solidFill>
                <a:latin typeface="JetBrains Mono ExtraBold"/>
                <a:ea typeface="JetBrains Mono ExtraBold"/>
                <a:cs typeface="JetBrains Mono ExtraBold"/>
              </a:rPr>
              <a:t>3.Subscription Plans</a:t>
            </a:r>
            <a:endParaRPr sz="2800" b="0" i="0" u="none" strike="noStrike" cap="none" spc="0">
              <a:solidFill>
                <a:srgbClr val="000000"/>
              </a:solidFill>
              <a:latin typeface="Poppins"/>
              <a:cs typeface="Poppins"/>
            </a:endParaRPr>
          </a:p>
          <a:p>
            <a:pPr marL="851223" lvl="1" indent="-394023">
              <a:buFont typeface="Arial"/>
              <a:buChar char="•"/>
              <a:defRPr/>
            </a:pPr>
            <a:r>
              <a:rPr lang="en-US" sz="2800" b="0" i="0" u="none" strike="noStrike" cap="none" spc="0">
                <a:solidFill>
                  <a:schemeClr val="bg1"/>
                </a:solidFill>
                <a:latin typeface="Poppins"/>
                <a:ea typeface="Poppins"/>
                <a:cs typeface="Poppins"/>
              </a:rPr>
              <a:t>Monthly / yearly plans for:</a:t>
            </a:r>
            <a:endParaRPr sz="2800" b="0" i="0" u="none" strike="noStrike" cap="none" spc="0">
              <a:solidFill>
                <a:schemeClr val="bg1"/>
              </a:solidFill>
              <a:latin typeface="Poppins"/>
              <a:cs typeface="Poppins"/>
            </a:endParaRPr>
          </a:p>
          <a:p>
            <a:pPr marL="1251273" lvl="2" indent="-394023">
              <a:buFont typeface="Arial"/>
              <a:buChar char="•"/>
              <a:defRPr/>
            </a:pPr>
            <a:r>
              <a:rPr lang="en-US" sz="2800" b="0" i="0" u="none" strike="noStrike" cap="none" spc="0">
                <a:solidFill>
                  <a:schemeClr val="bg1"/>
                </a:solidFill>
                <a:latin typeface="Poppins"/>
                <a:ea typeface="Poppins"/>
                <a:cs typeface="Poppins"/>
              </a:rPr>
              <a:t>Families</a:t>
            </a:r>
            <a:endParaRPr sz="2800" b="0" i="0" u="none" strike="noStrike" cap="none" spc="0">
              <a:solidFill>
                <a:schemeClr val="bg1"/>
              </a:solidFill>
              <a:latin typeface="Poppins"/>
              <a:cs typeface="Poppins"/>
            </a:endParaRPr>
          </a:p>
          <a:p>
            <a:pPr marL="1251273" lvl="2" indent="-394023">
              <a:buFont typeface="Arial"/>
              <a:buChar char="•"/>
              <a:defRPr/>
            </a:pPr>
            <a:r>
              <a:rPr lang="en-US" sz="2800" b="0" i="0" u="none" strike="noStrike" cap="none" spc="0">
                <a:solidFill>
                  <a:schemeClr val="bg1"/>
                </a:solidFill>
                <a:latin typeface="Poppins"/>
                <a:ea typeface="Poppins"/>
                <a:cs typeface="Poppins"/>
              </a:rPr>
              <a:t>Chronic patients</a:t>
            </a:r>
            <a:endParaRPr sz="2800" b="0" i="0" u="none" strike="noStrike" cap="none" spc="0">
              <a:solidFill>
                <a:schemeClr val="bg1"/>
              </a:solidFill>
              <a:latin typeface="Poppins"/>
              <a:cs typeface="Poppins"/>
            </a:endParaRPr>
          </a:p>
          <a:p>
            <a:pPr marL="1251273" lvl="2" indent="-394023">
              <a:buFont typeface="Arial"/>
              <a:buChar char="•"/>
              <a:defRPr/>
            </a:pPr>
            <a:r>
              <a:rPr lang="en-US" sz="2800" b="0" i="0" u="none" strike="noStrike" cap="none" spc="0">
                <a:solidFill>
                  <a:schemeClr val="bg1"/>
                </a:solidFill>
                <a:latin typeface="Poppins"/>
                <a:ea typeface="Poppins"/>
                <a:cs typeface="Poppins"/>
              </a:rPr>
              <a:t>Senior citizens</a:t>
            </a:r>
            <a:endParaRPr sz="2800" b="0" i="0" u="none" strike="noStrike" cap="none" spc="0">
              <a:solidFill>
                <a:schemeClr val="bg1"/>
              </a:solidFill>
              <a:latin typeface="Poppins"/>
              <a:ea typeface="Poppins"/>
              <a:cs typeface="Poppins"/>
            </a:endParaRPr>
          </a:p>
          <a:p>
            <a:pPr marL="1251273" lvl="2" indent="-394023">
              <a:buFont typeface="Arial"/>
              <a:buChar char="•"/>
              <a:defRPr/>
            </a:pPr>
            <a:r>
              <a:rPr lang="en-US" sz="2800" b="0" i="0" u="none" strike="noStrike" cap="none" spc="0">
                <a:solidFill>
                  <a:schemeClr val="bg1"/>
                </a:solidFill>
                <a:latin typeface="Poppins"/>
                <a:ea typeface="Poppins"/>
                <a:cs typeface="Poppins"/>
              </a:rPr>
              <a:t>Includes reminders, follow-ups, and priority care.</a:t>
            </a:r>
            <a:endParaRPr sz="2800" b="0" i="0" u="none" strike="noStrike" cap="none" spc="0">
              <a:solidFill>
                <a:srgbClr val="000000"/>
              </a:solidFill>
              <a:latin typeface="Poppins"/>
              <a:cs typeface="Poppins"/>
            </a:endParaRPr>
          </a:p>
        </p:txBody>
      </p:sp>
      <p:sp>
        <p:nvSpPr>
          <p:cNvPr id="373091788" name=""/>
          <p:cNvSpPr txBox="1"/>
          <p:nvPr/>
        </p:nvSpPr>
        <p:spPr bwMode="auto">
          <a:xfrm rot="0" flipH="0" flipV="0">
            <a:off x="10402905" y="2136688"/>
            <a:ext cx="7630439" cy="819947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sz="2800"/>
              <a:t> </a:t>
            </a:r>
            <a:r>
              <a:rPr sz="2800">
                <a:solidFill>
                  <a:schemeClr val="accent2">
                    <a:lumMod val="50000"/>
                  </a:schemeClr>
                </a:solidFill>
              </a:rPr>
              <a:t>  </a:t>
            </a:r>
            <a:r>
              <a:rPr sz="2800" b="1" i="0" u="none">
                <a:solidFill>
                  <a:schemeClr val="accent2">
                    <a:lumMod val="50000"/>
                  </a:schemeClr>
                </a:solidFill>
                <a:latin typeface="Times New Roman"/>
                <a:ea typeface="Times New Roman"/>
                <a:cs typeface="Times New Roman"/>
              </a:rPr>
              <a:t>Future Scope</a:t>
            </a:r>
            <a:endParaRPr sz="2800"/>
          </a:p>
          <a:p>
            <a:pPr>
              <a:defRPr/>
            </a:pPr>
            <a:r>
              <a:rPr sz="2800" b="1" i="0" u="none">
                <a:solidFill>
                  <a:srgbClr val="000000"/>
                </a:solidFill>
                <a:latin typeface="Times New Roman"/>
                <a:ea typeface="Times New Roman"/>
                <a:cs typeface="Times New Roman"/>
              </a:rPr>
              <a:t>1. </a:t>
            </a:r>
            <a:r>
              <a:rPr sz="2800" b="1" i="0" u="none">
                <a:solidFill>
                  <a:srgbClr val="000000"/>
                </a:solidFill>
                <a:latin typeface="Times New Roman"/>
                <a:ea typeface="Times New Roman"/>
                <a:cs typeface="Times New Roman"/>
              </a:rPr>
              <a:t>Advanced AI Models</a:t>
            </a:r>
            <a:endParaRPr sz="2800"/>
          </a:p>
          <a:p>
            <a:pPr marL="851223" lvl="1" indent="-394023">
              <a:buFont typeface="Arial"/>
              <a:buChar char="•"/>
              <a:defRPr/>
            </a:pPr>
            <a:r>
              <a:rPr sz="2800" b="0" i="0" u="none">
                <a:solidFill>
                  <a:srgbClr val="FFFF00"/>
                </a:solidFill>
                <a:latin typeface="Times New Roman"/>
                <a:ea typeface="Times New Roman"/>
                <a:cs typeface="Times New Roman"/>
              </a:rPr>
              <a:t>Improved severity prediction</a:t>
            </a:r>
            <a:endParaRPr sz="2800">
              <a:solidFill>
                <a:srgbClr val="FFFF00"/>
              </a:solidFill>
            </a:endParaRPr>
          </a:p>
          <a:p>
            <a:pPr marL="851223" lvl="1" indent="-394023">
              <a:buFont typeface="Arial"/>
              <a:buChar char="•"/>
              <a:defRPr/>
            </a:pPr>
            <a:r>
              <a:rPr sz="2800" b="0" i="0" u="none">
                <a:solidFill>
                  <a:srgbClr val="FFFF00"/>
                </a:solidFill>
                <a:latin typeface="Times New Roman"/>
                <a:ea typeface="Times New Roman"/>
                <a:cs typeface="Times New Roman"/>
              </a:rPr>
              <a:t>Personalized treatment suggestions</a:t>
            </a:r>
            <a:endParaRPr sz="2800">
              <a:solidFill>
                <a:srgbClr val="FFFF00"/>
              </a:solidFill>
            </a:endParaRPr>
          </a:p>
          <a:p>
            <a:pPr marL="851223" lvl="1" indent="-394023">
              <a:buFont typeface="Arial"/>
              <a:buChar char="•"/>
              <a:defRPr/>
            </a:pPr>
            <a:r>
              <a:rPr sz="2800" b="0" i="0" u="none">
                <a:solidFill>
                  <a:srgbClr val="FFFF00"/>
                </a:solidFill>
                <a:latin typeface="Times New Roman"/>
                <a:ea typeface="Times New Roman"/>
                <a:cs typeface="Times New Roman"/>
              </a:rPr>
              <a:t>Predictive health alerts</a:t>
            </a:r>
            <a:endParaRPr sz="2800"/>
          </a:p>
          <a:p>
            <a:pPr>
              <a:defRPr/>
            </a:pPr>
            <a:r>
              <a:rPr sz="2800" b="1" i="0" u="none">
                <a:solidFill>
                  <a:srgbClr val="000000"/>
                </a:solidFill>
                <a:latin typeface="Times New Roman"/>
                <a:ea typeface="Times New Roman"/>
                <a:cs typeface="Times New Roman"/>
              </a:rPr>
              <a:t>2. </a:t>
            </a:r>
            <a:r>
              <a:rPr sz="2800" b="1" i="0" u="none">
                <a:solidFill>
                  <a:srgbClr val="000000"/>
                </a:solidFill>
                <a:latin typeface="Times New Roman"/>
                <a:ea typeface="Times New Roman"/>
                <a:cs typeface="Times New Roman"/>
              </a:rPr>
              <a:t>Mobile App Expansion</a:t>
            </a:r>
            <a:endParaRPr sz="2800"/>
          </a:p>
          <a:p>
            <a:pPr marL="851223" lvl="1" indent="-394023">
              <a:buFont typeface="Arial"/>
              <a:buChar char="•"/>
              <a:defRPr/>
            </a:pPr>
            <a:r>
              <a:rPr sz="2800" b="0" i="0" u="none">
                <a:solidFill>
                  <a:srgbClr val="FFFF00"/>
                </a:solidFill>
                <a:latin typeface="Times New Roman"/>
                <a:ea typeface="Times New Roman"/>
                <a:cs typeface="Times New Roman"/>
              </a:rPr>
              <a:t>Android &amp; iOS apps</a:t>
            </a:r>
            <a:endParaRPr sz="2800">
              <a:solidFill>
                <a:srgbClr val="FFFF00"/>
              </a:solidFill>
            </a:endParaRPr>
          </a:p>
          <a:p>
            <a:pPr marL="851223" lvl="1" indent="-394023">
              <a:buFont typeface="Arial"/>
              <a:buChar char="•"/>
              <a:defRPr/>
            </a:pPr>
            <a:r>
              <a:rPr sz="2800" b="0" i="0" u="none">
                <a:solidFill>
                  <a:srgbClr val="FFFF00"/>
                </a:solidFill>
                <a:latin typeface="Times New Roman"/>
                <a:ea typeface="Times New Roman"/>
                <a:cs typeface="Times New Roman"/>
              </a:rPr>
              <a:t>Wearable integration (heart rate, steps, SpO₂)</a:t>
            </a:r>
            <a:endParaRPr sz="2800"/>
          </a:p>
          <a:p>
            <a:pPr>
              <a:defRPr/>
            </a:pPr>
            <a:r>
              <a:rPr sz="2800" b="1" i="0" u="none">
                <a:solidFill>
                  <a:srgbClr val="000000"/>
                </a:solidFill>
                <a:latin typeface="Times New Roman"/>
                <a:ea typeface="Times New Roman"/>
                <a:cs typeface="Times New Roman"/>
              </a:rPr>
              <a:t>3. </a:t>
            </a:r>
            <a:r>
              <a:rPr sz="2800" b="1" i="0" u="none">
                <a:solidFill>
                  <a:srgbClr val="000000"/>
                </a:solidFill>
                <a:latin typeface="Times New Roman"/>
                <a:ea typeface="Times New Roman"/>
                <a:cs typeface="Times New Roman"/>
              </a:rPr>
              <a:t>Multi-Language &amp; Voice AI</a:t>
            </a:r>
            <a:endParaRPr sz="2800"/>
          </a:p>
          <a:p>
            <a:pPr marL="851223" lvl="1" indent="-394023">
              <a:buFont typeface="Arial"/>
              <a:buChar char="•"/>
              <a:defRPr/>
            </a:pPr>
            <a:r>
              <a:rPr sz="2800" b="0" i="0" u="none">
                <a:solidFill>
                  <a:srgbClr val="FFFF00"/>
                </a:solidFill>
                <a:latin typeface="Times New Roman"/>
                <a:ea typeface="Times New Roman"/>
                <a:cs typeface="Times New Roman"/>
              </a:rPr>
              <a:t>Regional language support</a:t>
            </a:r>
            <a:endParaRPr sz="2800">
              <a:solidFill>
                <a:srgbClr val="FFFF00"/>
              </a:solidFill>
            </a:endParaRPr>
          </a:p>
          <a:p>
            <a:pPr marL="851223" lvl="1" indent="-394023">
              <a:buFont typeface="Arial"/>
              <a:buChar char="•"/>
              <a:defRPr/>
            </a:pPr>
            <a:r>
              <a:rPr sz="2800" b="0" i="0" u="none">
                <a:solidFill>
                  <a:srgbClr val="FFFF00"/>
                </a:solidFill>
                <a:latin typeface="Times New Roman"/>
                <a:ea typeface="Times New Roman"/>
                <a:cs typeface="Times New Roman"/>
              </a:rPr>
              <a:t>Voice-based symptom input (for rural users)</a:t>
            </a:r>
            <a:endParaRPr sz="2800">
              <a:solidFill>
                <a:srgbClr val="FFFF00"/>
              </a:solidFill>
            </a:endParaRPr>
          </a:p>
          <a:p>
            <a:pPr>
              <a:defRPr/>
            </a:pPr>
            <a:r>
              <a:rPr sz="2800" b="1" i="0" u="none">
                <a:solidFill>
                  <a:srgbClr val="000000"/>
                </a:solidFill>
                <a:latin typeface="Times New Roman"/>
                <a:ea typeface="Times New Roman"/>
                <a:cs typeface="Times New Roman"/>
              </a:rPr>
              <a:t>4. </a:t>
            </a:r>
            <a:r>
              <a:rPr sz="2800" b="1" i="0" u="none">
                <a:solidFill>
                  <a:srgbClr val="000000"/>
                </a:solidFill>
                <a:latin typeface="Times New Roman"/>
                <a:ea typeface="Times New Roman"/>
                <a:cs typeface="Times New Roman"/>
              </a:rPr>
              <a:t>Remote Monitoring</a:t>
            </a:r>
            <a:endParaRPr sz="2800"/>
          </a:p>
          <a:p>
            <a:pPr marL="851223" lvl="1" indent="-394023">
              <a:buFont typeface="Arial"/>
              <a:buChar char="•"/>
              <a:defRPr/>
            </a:pPr>
            <a:r>
              <a:rPr sz="2800" b="0" i="0" u="none">
                <a:solidFill>
                  <a:srgbClr val="FFFF00"/>
                </a:solidFill>
                <a:latin typeface="Times New Roman"/>
                <a:ea typeface="Times New Roman"/>
                <a:cs typeface="Times New Roman"/>
              </a:rPr>
              <a:t>IoT medical devices</a:t>
            </a:r>
            <a:endParaRPr sz="2800">
              <a:solidFill>
                <a:srgbClr val="FFFF00"/>
              </a:solidFill>
            </a:endParaRPr>
          </a:p>
          <a:p>
            <a:pPr marL="851223" lvl="1" indent="-394023">
              <a:buFont typeface="Arial"/>
              <a:buChar char="•"/>
              <a:defRPr/>
            </a:pPr>
            <a:r>
              <a:rPr sz="2800" b="0" i="0" u="none">
                <a:solidFill>
                  <a:srgbClr val="FFFF00"/>
                </a:solidFill>
                <a:latin typeface="Times New Roman"/>
                <a:ea typeface="Times New Roman"/>
                <a:cs typeface="Times New Roman"/>
              </a:rPr>
              <a:t>Continuous vitals tracking</a:t>
            </a:r>
            <a:endParaRPr sz="2800">
              <a:solidFill>
                <a:srgbClr val="FFFF00"/>
              </a:solidFill>
            </a:endParaRPr>
          </a:p>
          <a:p>
            <a:pPr marL="851223" lvl="1" indent="-394023">
              <a:buFont typeface="Arial"/>
              <a:buChar char="•"/>
              <a:defRPr/>
            </a:pPr>
            <a:r>
              <a:rPr sz="2800" b="0" i="0" u="none">
                <a:solidFill>
                  <a:srgbClr val="FFFF00"/>
                </a:solidFill>
                <a:latin typeface="Times New Roman"/>
                <a:ea typeface="Times New Roman"/>
                <a:cs typeface="Times New Roman"/>
              </a:rPr>
              <a:t>Alerts for abnormal readings</a:t>
            </a:r>
            <a:endParaRPr sz="2800"/>
          </a:p>
          <a:p>
            <a:pPr>
              <a:defRPr/>
            </a:pPr>
            <a:r>
              <a:rPr sz="2800" b="1" i="0" u="none">
                <a:solidFill>
                  <a:srgbClr val="000000"/>
                </a:solidFill>
                <a:latin typeface="Times New Roman"/>
                <a:ea typeface="Times New Roman"/>
                <a:cs typeface="Times New Roman"/>
              </a:rPr>
              <a:t>5. </a:t>
            </a:r>
            <a:r>
              <a:rPr sz="2800" b="1" i="0" u="none">
                <a:solidFill>
                  <a:srgbClr val="000000"/>
                </a:solidFill>
                <a:latin typeface="Times New Roman"/>
                <a:ea typeface="Times New Roman"/>
                <a:cs typeface="Times New Roman"/>
              </a:rPr>
              <a:t>Integration with Health Systems</a:t>
            </a:r>
            <a:endParaRPr sz="2800"/>
          </a:p>
          <a:p>
            <a:pPr marL="851223" lvl="1" indent="-394023">
              <a:buFont typeface="Arial"/>
              <a:buChar char="•"/>
              <a:defRPr/>
            </a:pPr>
            <a:r>
              <a:rPr sz="2800" b="0" i="0" u="none">
                <a:solidFill>
                  <a:srgbClr val="FFFF00"/>
                </a:solidFill>
                <a:latin typeface="Times New Roman"/>
                <a:ea typeface="Times New Roman"/>
                <a:cs typeface="Times New Roman"/>
              </a:rPr>
              <a:t>Government health programs</a:t>
            </a:r>
            <a:endParaRPr sz="2800">
              <a:solidFill>
                <a:srgbClr val="FFFF00"/>
              </a:solidFill>
            </a:endParaRPr>
          </a:p>
          <a:p>
            <a:pPr marL="851223" lvl="1" indent="-394023">
              <a:buFont typeface="Arial"/>
              <a:buChar char="•"/>
              <a:defRPr/>
            </a:pPr>
            <a:r>
              <a:rPr sz="2800" b="0" i="0" u="none">
                <a:solidFill>
                  <a:srgbClr val="FFFF00"/>
                </a:solidFill>
                <a:latin typeface="Times New Roman"/>
                <a:ea typeface="Times New Roman"/>
                <a:cs typeface="Times New Roman"/>
              </a:rPr>
              <a:t>Insurance claim integration</a:t>
            </a:r>
            <a:endParaRPr sz="2800">
              <a:solidFill>
                <a:srgbClr val="FFFF00"/>
              </a:solidFill>
            </a:endParaRPr>
          </a:p>
          <a:p>
            <a:pPr marL="851223" lvl="1" indent="-394023">
              <a:buFont typeface="Arial"/>
              <a:buChar char="•"/>
              <a:defRPr/>
            </a:pPr>
            <a:r>
              <a:rPr sz="2800" b="0" i="0" u="none">
                <a:solidFill>
                  <a:srgbClr val="FFFF00"/>
                </a:solidFill>
                <a:latin typeface="Times New Roman"/>
                <a:ea typeface="Times New Roman"/>
                <a:cs typeface="Times New Roman"/>
              </a:rPr>
              <a:t>Electronic Health Records (EHR)</a:t>
            </a:r>
            <a:endParaRPr sz="2800">
              <a:solidFill>
                <a:srgbClr val="FFFF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pSp>
        <p:nvGrpSpPr>
          <p:cNvPr id="1682411151" name="Group 2"/>
          <p:cNvGrpSpPr/>
          <p:nvPr/>
        </p:nvGrpSpPr>
        <p:grpSpPr bwMode="auto">
          <a:xfrm>
            <a:off x="0" y="0"/>
            <a:ext cx="18288000" cy="10972800"/>
            <a:chOff x="0" y="0"/>
            <a:chExt cx="24384000" cy="14630400"/>
          </a:xfrm>
        </p:grpSpPr>
        <p:sp>
          <p:nvSpPr>
            <p:cNvPr id="3" name="Freeform 3"/>
            <p:cNvSpPr/>
            <p:nvPr/>
          </p:nvSpPr>
          <p:spPr bwMode="auto">
            <a:xfrm>
              <a:off x="195072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4" name="Freeform 4"/>
            <p:cNvSpPr/>
            <p:nvPr/>
          </p:nvSpPr>
          <p:spPr bwMode="auto">
            <a:xfrm>
              <a:off x="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5" name="Freeform 5"/>
            <p:cNvSpPr/>
            <p:nvPr/>
          </p:nvSpPr>
          <p:spPr bwMode="auto">
            <a:xfrm>
              <a:off x="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6" name="Freeform 6"/>
            <p:cNvSpPr/>
            <p:nvPr/>
          </p:nvSpPr>
          <p:spPr bwMode="auto">
            <a:xfrm>
              <a:off x="0" y="48768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17000"/>
              </a:blip>
              <a:stretch/>
            </a:blipFill>
          </p:spPr>
        </p:sp>
        <p:sp>
          <p:nvSpPr>
            <p:cNvPr id="7" name="Freeform 7"/>
            <p:cNvSpPr/>
            <p:nvPr/>
          </p:nvSpPr>
          <p:spPr bwMode="auto">
            <a:xfrm>
              <a:off x="97536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8" name="Freeform 8"/>
            <p:cNvSpPr/>
            <p:nvPr/>
          </p:nvSpPr>
          <p:spPr bwMode="auto">
            <a:xfrm>
              <a:off x="97536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9" name="Freeform 9"/>
            <p:cNvSpPr/>
            <p:nvPr/>
          </p:nvSpPr>
          <p:spPr bwMode="auto">
            <a:xfrm>
              <a:off x="9753600" y="4884141"/>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0" name="Freeform 10"/>
            <p:cNvSpPr/>
            <p:nvPr/>
          </p:nvSpPr>
          <p:spPr bwMode="auto">
            <a:xfrm>
              <a:off x="195072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1" name="Freeform 11"/>
            <p:cNvSpPr/>
            <p:nvPr/>
          </p:nvSpPr>
          <p:spPr bwMode="auto">
            <a:xfrm>
              <a:off x="19507200" y="48768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4">
                <a:alphaModFix amt="17000"/>
              </a:blip>
              <a:stretch/>
            </a:blipFill>
          </p:spPr>
        </p:sp>
        <p:sp>
          <p:nvSpPr>
            <p:cNvPr id="12" name="Freeform 12"/>
            <p:cNvSpPr/>
            <p:nvPr/>
          </p:nvSpPr>
          <p:spPr bwMode="auto">
            <a:xfrm>
              <a:off x="48768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3" name="Freeform 13"/>
            <p:cNvSpPr/>
            <p:nvPr/>
          </p:nvSpPr>
          <p:spPr bwMode="auto">
            <a:xfrm>
              <a:off x="48768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4" name="Freeform 14"/>
            <p:cNvSpPr/>
            <p:nvPr/>
          </p:nvSpPr>
          <p:spPr bwMode="auto">
            <a:xfrm>
              <a:off x="4876800" y="4884141"/>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5" name="Freeform 15"/>
            <p:cNvSpPr/>
            <p:nvPr/>
          </p:nvSpPr>
          <p:spPr bwMode="auto">
            <a:xfrm>
              <a:off x="14630400" y="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6" name="Freeform 16"/>
            <p:cNvSpPr/>
            <p:nvPr/>
          </p:nvSpPr>
          <p:spPr bwMode="auto">
            <a:xfrm>
              <a:off x="14630400" y="97536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sp>
          <p:nvSpPr>
            <p:cNvPr id="17" name="Freeform 17"/>
            <p:cNvSpPr/>
            <p:nvPr/>
          </p:nvSpPr>
          <p:spPr bwMode="auto">
            <a:xfrm>
              <a:off x="14630400" y="4876800"/>
              <a:ext cx="4876800" cy="4876800"/>
            </a:xfrm>
            <a:custGeom>
              <a:avLst/>
              <a:gdLst/>
              <a:ahLst/>
              <a:cxnLst/>
              <a:rect l="l" t="t" r="r" b="b"/>
              <a:pathLst>
                <a:path w="4876800" h="4876800" fill="norm" stroke="1" extrusionOk="0">
                  <a:moveTo>
                    <a:pt x="0" y="0"/>
                  </a:moveTo>
                  <a:lnTo>
                    <a:pt x="4876800" y="0"/>
                  </a:lnTo>
                  <a:lnTo>
                    <a:pt x="4876800" y="4876800"/>
                  </a:lnTo>
                  <a:lnTo>
                    <a:pt x="0" y="4876800"/>
                  </a:lnTo>
                  <a:lnTo>
                    <a:pt x="0" y="0"/>
                  </a:lnTo>
                  <a:close/>
                </a:path>
              </a:pathLst>
            </a:custGeom>
            <a:blipFill>
              <a:blip r:embed="rId3">
                <a:alphaModFix amt="17000"/>
              </a:blip>
              <a:stretch/>
            </a:blipFill>
          </p:spPr>
        </p:sp>
      </p:grpSp>
      <p:grpSp>
        <p:nvGrpSpPr>
          <p:cNvPr id="766836489" name="Group 18"/>
          <p:cNvGrpSpPr/>
          <p:nvPr/>
        </p:nvGrpSpPr>
        <p:grpSpPr bwMode="auto">
          <a:xfrm>
            <a:off x="14407420" y="134405"/>
            <a:ext cx="3519315" cy="934145"/>
            <a:chOff x="0" y="0"/>
            <a:chExt cx="4692420" cy="1245527"/>
          </a:xfrm>
        </p:grpSpPr>
        <p:sp>
          <p:nvSpPr>
            <p:cNvPr id="19" name="Freeform 19"/>
            <p:cNvSpPr/>
            <p:nvPr/>
          </p:nvSpPr>
          <p:spPr bwMode="auto">
            <a:xfrm>
              <a:off x="1643291" y="233036"/>
              <a:ext cx="1118835" cy="863153"/>
            </a:xfrm>
            <a:custGeom>
              <a:avLst/>
              <a:gdLst/>
              <a:ahLst/>
              <a:cxnLst/>
              <a:rect l="l" t="t" r="r" b="b"/>
              <a:pathLst>
                <a:path w="1118835" h="863153" fill="norm" stroke="1" extrusionOk="0">
                  <a:moveTo>
                    <a:pt x="0" y="0"/>
                  </a:moveTo>
                  <a:lnTo>
                    <a:pt x="1118835" y="0"/>
                  </a:lnTo>
                  <a:lnTo>
                    <a:pt x="1118835" y="863153"/>
                  </a:lnTo>
                  <a:lnTo>
                    <a:pt x="0" y="863153"/>
                  </a:lnTo>
                  <a:lnTo>
                    <a:pt x="0" y="0"/>
                  </a:lnTo>
                  <a:close/>
                </a:path>
              </a:pathLst>
            </a:custGeom>
            <a:blipFill>
              <a:blip r:embed="rId5"/>
              <a:stretch/>
            </a:blipFill>
          </p:spPr>
        </p:sp>
        <p:sp>
          <p:nvSpPr>
            <p:cNvPr id="20" name="Freeform 20"/>
            <p:cNvSpPr/>
            <p:nvPr/>
          </p:nvSpPr>
          <p:spPr bwMode="auto">
            <a:xfrm>
              <a:off x="0" y="0"/>
              <a:ext cx="1292661" cy="1096189"/>
            </a:xfrm>
            <a:custGeom>
              <a:avLst/>
              <a:gdLst/>
              <a:ahLst/>
              <a:cxnLst/>
              <a:rect l="l" t="t" r="r" b="b"/>
              <a:pathLst>
                <a:path w="1292661" h="1096189" fill="norm" stroke="1" extrusionOk="0">
                  <a:moveTo>
                    <a:pt x="0" y="0"/>
                  </a:moveTo>
                  <a:lnTo>
                    <a:pt x="1292661" y="0"/>
                  </a:lnTo>
                  <a:lnTo>
                    <a:pt x="1292661" y="1096189"/>
                  </a:lnTo>
                  <a:lnTo>
                    <a:pt x="0" y="1096189"/>
                  </a:lnTo>
                  <a:lnTo>
                    <a:pt x="0" y="0"/>
                  </a:lnTo>
                  <a:close/>
                </a:path>
              </a:pathLst>
            </a:custGeom>
            <a:blipFill>
              <a:blip r:embed="rId6"/>
              <a:stretch/>
            </a:blipFill>
          </p:spPr>
        </p:sp>
        <p:sp>
          <p:nvSpPr>
            <p:cNvPr id="21" name="Freeform 21"/>
            <p:cNvSpPr/>
            <p:nvPr/>
          </p:nvSpPr>
          <p:spPr bwMode="auto">
            <a:xfrm>
              <a:off x="2905209" y="200391"/>
              <a:ext cx="1787211" cy="1045135"/>
            </a:xfrm>
            <a:custGeom>
              <a:avLst/>
              <a:gdLst/>
              <a:ahLst/>
              <a:cxnLst/>
              <a:rect l="l" t="t" r="r" b="b"/>
              <a:pathLst>
                <a:path w="1787211" h="1045135" fill="norm" stroke="1" extrusionOk="0">
                  <a:moveTo>
                    <a:pt x="0" y="0"/>
                  </a:moveTo>
                  <a:lnTo>
                    <a:pt x="1787211" y="0"/>
                  </a:lnTo>
                  <a:lnTo>
                    <a:pt x="1787211" y="1045136"/>
                  </a:lnTo>
                  <a:lnTo>
                    <a:pt x="0" y="1045136"/>
                  </a:lnTo>
                  <a:lnTo>
                    <a:pt x="0" y="0"/>
                  </a:lnTo>
                  <a:close/>
                </a:path>
              </a:pathLst>
            </a:custGeom>
            <a:blipFill>
              <a:blip r:embed="rId7"/>
              <a:stretch>
                <a:fillRect l="-15589" t="-14282" r="-14525" b="0"/>
              </a:stretch>
            </a:blipFill>
          </p:spPr>
        </p:sp>
      </p:grpSp>
      <p:grpSp>
        <p:nvGrpSpPr>
          <p:cNvPr id="208336160" name="Group 22"/>
          <p:cNvGrpSpPr/>
          <p:nvPr/>
        </p:nvGrpSpPr>
        <p:grpSpPr bwMode="auto">
          <a:xfrm>
            <a:off x="545875" y="-799311"/>
            <a:ext cx="965651" cy="1867862"/>
            <a:chOff x="0" y="0"/>
            <a:chExt cx="1287534" cy="2490482"/>
          </a:xfrm>
        </p:grpSpPr>
        <p:grpSp>
          <p:nvGrpSpPr>
            <p:cNvPr id="23" name="Group 23"/>
            <p:cNvGrpSpPr/>
            <p:nvPr/>
          </p:nvGrpSpPr>
          <p:grpSpPr bwMode="auto">
            <a:xfrm>
              <a:off x="79936" y="0"/>
              <a:ext cx="1169956" cy="2490482"/>
              <a:chOff x="0" y="0"/>
              <a:chExt cx="249524" cy="531162"/>
            </a:xfrm>
          </p:grpSpPr>
          <p:sp>
            <p:nvSpPr>
              <p:cNvPr id="24" name="Freeform 24"/>
              <p:cNvSpPr/>
              <p:nvPr/>
            </p:nvSpPr>
            <p:spPr bwMode="auto">
              <a:xfrm>
                <a:off x="0" y="0"/>
                <a:ext cx="249524" cy="531162"/>
              </a:xfrm>
              <a:custGeom>
                <a:avLst/>
                <a:gdLst/>
                <a:ahLst/>
                <a:cxnLst/>
                <a:rect l="l" t="t" r="r" b="b"/>
                <a:pathLst>
                  <a:path w="249524" h="531162" fill="norm" stroke="1" extrusionOk="0">
                    <a:moveTo>
                      <a:pt x="124762" y="0"/>
                    </a:moveTo>
                    <a:lnTo>
                      <a:pt x="124762" y="0"/>
                    </a:lnTo>
                    <a:cubicBezTo>
                      <a:pt x="193666" y="0"/>
                      <a:pt x="249524" y="55858"/>
                      <a:pt x="249524" y="124762"/>
                    </a:cubicBezTo>
                    <a:lnTo>
                      <a:pt x="249524" y="406400"/>
                    </a:lnTo>
                    <a:cubicBezTo>
                      <a:pt x="249524" y="439489"/>
                      <a:pt x="236380" y="471223"/>
                      <a:pt x="212982" y="494620"/>
                    </a:cubicBezTo>
                    <a:cubicBezTo>
                      <a:pt x="189585" y="518018"/>
                      <a:pt x="157851" y="531162"/>
                      <a:pt x="124762" y="531162"/>
                    </a:cubicBezTo>
                    <a:lnTo>
                      <a:pt x="124762" y="531162"/>
                    </a:lnTo>
                    <a:cubicBezTo>
                      <a:pt x="91673" y="531162"/>
                      <a:pt x="59939" y="518018"/>
                      <a:pt x="36542" y="494620"/>
                    </a:cubicBezTo>
                    <a:cubicBezTo>
                      <a:pt x="13145" y="471223"/>
                      <a:pt x="0" y="439489"/>
                      <a:pt x="0" y="406400"/>
                    </a:cubicBezTo>
                    <a:lnTo>
                      <a:pt x="0" y="124762"/>
                    </a:lnTo>
                    <a:cubicBezTo>
                      <a:pt x="0" y="91673"/>
                      <a:pt x="13145" y="59939"/>
                      <a:pt x="36542" y="36542"/>
                    </a:cubicBezTo>
                    <a:cubicBezTo>
                      <a:pt x="59939" y="13145"/>
                      <a:pt x="91673" y="0"/>
                      <a:pt x="124762" y="0"/>
                    </a:cubicBezTo>
                    <a:close/>
                  </a:path>
                </a:pathLst>
              </a:custGeom>
              <a:solidFill>
                <a:srgbClr val="030303"/>
              </a:solidFill>
            </p:spPr>
          </p:sp>
          <p:sp>
            <p:nvSpPr>
              <p:cNvPr id="25" name="TextBox 25"/>
              <p:cNvSpPr txBox="1"/>
              <p:nvPr/>
            </p:nvSpPr>
            <p:spPr bwMode="auto">
              <a:xfrm>
                <a:off x="0" y="-66675"/>
                <a:ext cx="249524" cy="597837"/>
              </a:xfrm>
              <a:prstGeom prst="rect">
                <a:avLst/>
              </a:prstGeom>
              <a:grpFill/>
            </p:spPr>
            <p:txBody>
              <a:bodyPr lIns="50800" tIns="50800" rIns="50800" bIns="50800" rtlCol="0" anchor="ctr"/>
              <a:lstStyle/>
              <a:p>
                <a:pPr algn="ctr">
                  <a:lnSpc>
                    <a:spcPts val="4759"/>
                  </a:lnSpc>
                  <a:defRPr/>
                </a:pPr>
                <a:endParaRPr/>
              </a:p>
            </p:txBody>
          </p:sp>
        </p:grpSp>
        <p:sp>
          <p:nvSpPr>
            <p:cNvPr id="26" name="Freeform 26"/>
            <p:cNvSpPr/>
            <p:nvPr/>
          </p:nvSpPr>
          <p:spPr bwMode="auto">
            <a:xfrm>
              <a:off x="0" y="1293424"/>
              <a:ext cx="1287534" cy="1163491"/>
            </a:xfrm>
            <a:custGeom>
              <a:avLst/>
              <a:gdLst/>
              <a:ahLst/>
              <a:cxnLst/>
              <a:rect l="l" t="t" r="r" b="b"/>
              <a:pathLst>
                <a:path w="1287534" h="1163491" fill="norm" stroke="1" extrusionOk="0">
                  <a:moveTo>
                    <a:pt x="0" y="0"/>
                  </a:moveTo>
                  <a:lnTo>
                    <a:pt x="1287534" y="0"/>
                  </a:lnTo>
                  <a:lnTo>
                    <a:pt x="1287534" y="1163490"/>
                  </a:lnTo>
                  <a:lnTo>
                    <a:pt x="0" y="1163490"/>
                  </a:lnTo>
                  <a:lnTo>
                    <a:pt x="0" y="0"/>
                  </a:lnTo>
                  <a:close/>
                </a:path>
              </a:pathLst>
            </a:custGeom>
            <a:blipFill>
              <a:blip r:embed="rId8"/>
              <a:stretch>
                <a:fillRect l="0" t="-489" r="0" b="-489"/>
              </a:stretch>
            </a:blipFill>
          </p:spPr>
        </p:sp>
      </p:grpSp>
      <p:sp>
        <p:nvSpPr>
          <p:cNvPr id="1154507559" name="TextBox 27"/>
          <p:cNvSpPr txBox="1"/>
          <p:nvPr/>
        </p:nvSpPr>
        <p:spPr bwMode="auto">
          <a:xfrm>
            <a:off x="463893" y="9719501"/>
            <a:ext cx="5201002" cy="333700"/>
          </a:xfrm>
          <a:prstGeom prst="rect">
            <a:avLst/>
          </a:prstGeom>
        </p:spPr>
        <p:txBody>
          <a:bodyPr lIns="0" tIns="0" rIns="0" bIns="0" rtlCol="0" anchor="t">
            <a:spAutoFit/>
          </a:bodyPr>
          <a:lstStyle/>
          <a:p>
            <a:pPr algn="ctr">
              <a:lnSpc>
                <a:spcPts val="2610"/>
              </a:lnSpc>
              <a:defRPr/>
            </a:pPr>
            <a:r>
              <a:rPr lang="en-US" sz="1850">
                <a:solidFill>
                  <a:srgbClr val="000000"/>
                </a:solidFill>
                <a:latin typeface="Poppins"/>
                <a:ea typeface="Poppins"/>
                <a:cs typeface="Poppins"/>
              </a:rPr>
              <a:t>Central India Hackathon 3.0 • SDG 3 &amp; SDG 9</a:t>
            </a:r>
            <a:endParaRPr/>
          </a:p>
        </p:txBody>
      </p:sp>
      <p:sp>
        <p:nvSpPr>
          <p:cNvPr id="1898637839" name="TextBox 28"/>
          <p:cNvSpPr txBox="1"/>
          <p:nvPr/>
        </p:nvSpPr>
        <p:spPr bwMode="auto">
          <a:xfrm>
            <a:off x="6178638" y="878050"/>
            <a:ext cx="5632362" cy="1169679"/>
          </a:xfrm>
          <a:prstGeom prst="rect">
            <a:avLst/>
          </a:prstGeom>
        </p:spPr>
        <p:txBody>
          <a:bodyPr wrap="square" lIns="0" tIns="0" rIns="0" bIns="0" rtlCol="0" anchor="t">
            <a:spAutoFit/>
          </a:bodyPr>
          <a:lstStyle/>
          <a:p>
            <a:pPr algn="ctr">
              <a:lnSpc>
                <a:spcPts val="9604"/>
              </a:lnSpc>
              <a:defRPr/>
            </a:pPr>
            <a:r>
              <a:rPr lang="en-US" sz="6850" b="1">
                <a:solidFill>
                  <a:srgbClr val="000000"/>
                </a:solidFill>
                <a:latin typeface="Poppins Bold"/>
                <a:ea typeface="Poppins Bold"/>
                <a:cs typeface="Poppins Bold"/>
              </a:rPr>
              <a:t>Conclusion</a:t>
            </a:r>
            <a:endParaRPr/>
          </a:p>
        </p:txBody>
      </p:sp>
      <p:sp>
        <p:nvSpPr>
          <p:cNvPr id="284335889" name=""/>
          <p:cNvSpPr txBox="1"/>
          <p:nvPr/>
        </p:nvSpPr>
        <p:spPr bwMode="auto">
          <a:xfrm rot="0" flipH="0" flipV="0">
            <a:off x="1264053" y="2600067"/>
            <a:ext cx="15887540" cy="4480919"/>
          </a:xfrm>
          <a:prstGeom prst="rect">
            <a:avLst/>
          </a:prstGeom>
          <a:noFill/>
        </p:spPr>
        <p:txBody>
          <a:bodyPr vertOverflow="overflow" horzOverflow="overflow" vert="horz" wrap="square" lIns="91440" tIns="45720" rIns="91440" bIns="45720" numCol="1" spcCol="0" rtlCol="0" fromWordArt="0" anchor="t" anchorCtr="0" forceAA="0" upright="0" compatLnSpc="0">
            <a:spAutoFit/>
          </a:bodyPr>
          <a:p>
            <a:pPr>
              <a:defRPr/>
            </a:pPr>
            <a:r>
              <a:rPr lang="en-US" sz="4800" b="0" i="0" u="none" strike="noStrike" cap="none" spc="0">
                <a:solidFill>
                  <a:srgbClr val="00B050"/>
                </a:solidFill>
                <a:latin typeface="Calibri"/>
                <a:ea typeface="Calibri"/>
                <a:cs typeface="Calibri"/>
              </a:rPr>
              <a:t>This app positions itself as a comprehensive health companion, prioritizing user</a:t>
            </a:r>
            <a:r>
              <a:rPr sz="4800">
                <a:solidFill>
                  <a:srgbClr val="00B050"/>
                </a:solidFill>
              </a:rPr>
              <a:t> </a:t>
            </a:r>
            <a:r>
              <a:rPr lang="en-US" sz="4800" b="0" i="0" u="none" strike="noStrike" cap="none" spc="0">
                <a:solidFill>
                  <a:srgbClr val="00B050"/>
                </a:solidFill>
                <a:latin typeface="Calibri"/>
                <a:ea typeface="Calibri"/>
                <a:cs typeface="Calibri"/>
              </a:rPr>
              <a:t>safety, accessibility, and innovation. By addressing common pain points like</a:t>
            </a:r>
            <a:endParaRPr sz="4800" b="0" i="0" u="none" strike="noStrike" cap="none" spc="0">
              <a:solidFill>
                <a:srgbClr val="00B050"/>
              </a:solidFill>
              <a:latin typeface="Calibri"/>
              <a:cs typeface="Calibri"/>
            </a:endParaRPr>
          </a:p>
          <a:p>
            <a:pPr>
              <a:defRPr/>
            </a:pPr>
            <a:r>
              <a:rPr lang="en-US" sz="4800" b="0" i="0" u="none" strike="noStrike" cap="none" spc="0">
                <a:solidFill>
                  <a:srgbClr val="00B050"/>
                </a:solidFill>
                <a:latin typeface="Calibri"/>
                <a:ea typeface="Calibri"/>
                <a:cs typeface="Calibri"/>
              </a:rPr>
              <a:t>doctor availability and medicine authenticity, it has the potential to revolutionize</a:t>
            </a:r>
            <a:r>
              <a:rPr lang="en-US" sz="4800" b="0" i="0" u="none" strike="noStrike" cap="none" spc="0">
                <a:solidFill>
                  <a:srgbClr val="00B050"/>
                </a:solidFill>
                <a:latin typeface="Calibri"/>
                <a:ea typeface="Calibri"/>
                <a:cs typeface="Calibri"/>
              </a:rPr>
              <a:t> </a:t>
            </a:r>
            <a:r>
              <a:rPr lang="en-US" sz="4800" b="0" i="0" u="none" strike="noStrike" cap="none" spc="0">
                <a:solidFill>
                  <a:srgbClr val="00B050"/>
                </a:solidFill>
                <a:latin typeface="Calibri"/>
                <a:ea typeface="Calibri"/>
                <a:cs typeface="Calibri"/>
              </a:rPr>
              <a:t>healthcare delivery in India. Feedback and iterations will be key to its success.</a:t>
            </a:r>
            <a:endParaRPr sz="4800" b="0" i="0" u="none" strike="noStrike" cap="none" spc="0">
              <a:solidFill>
                <a:schemeClr val="tx1"/>
              </a:solidFill>
              <a:latin typeface="Calibri"/>
              <a:cs typeface="Calibri"/>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2000" advClick="1"/>
    </mc:Choice>
    <mc:Fallback>
      <p:transition advClick="1"/>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ONLYOFFICE/9.2.0.100</Application>
  <PresentationFormat>On-screen Show (4:3)</PresentationFormat>
  <Paragraphs>0</Paragraphs>
  <Slides>8</Slides>
  <Notes>8</Notes>
  <HiddenSlides>0</HiddenSlides>
  <MMClips>2</MMClips>
  <ScaleCrop>0</ScaleCrop>
  <HeadingPairs>
    <vt:vector size="4" baseType="variant">
      <vt:variant>
        <vt:lpstr>Theme</vt:lpstr>
      </vt:variant>
      <vt:variant>
        <vt:i4>1</vt:i4>
      </vt:variant>
      <vt:variant>
        <vt:lpstr>Slide Titles</vt:lpstr>
      </vt:variant>
      <vt:variant>
        <vt:i4>8</vt:i4>
      </vt:variant>
    </vt:vector>
  </HeadingPairs>
  <TitlesOfParts>
    <vt:vector size="9" baseType="lpstr">
      <vt:lpstr>Theme 1</vt:lpstr>
      <vt:lpstr>Slide 1</vt:lpstr>
      <vt:lpstr>Slide 2</vt:lpstr>
      <vt:lpstr>Slide 3</vt:lpstr>
      <vt:lpstr>Slide 4</vt:lpstr>
      <vt:lpstr>Slide 5</vt:lpstr>
      <vt:lpstr>Slide 6</vt:lpstr>
      <vt:lpstr>Slide 7</vt:lpstr>
      <vt:lpstr>Slide 8</vt:lpstr>
    </vt:vector>
  </TitlesOfParts>
  <Company/>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Central_India_Hackathon_Chapter_3</dc:title>
  <dc:creator>PIYUSH</dc:creator>
  <dc:identifier>DAG59eLebgA</dc:identifier>
  <cp:lastModifiedBy/>
  <cp:revision>5</cp:revision>
  <dcterms:created xsi:type="dcterms:W3CDTF">2006-08-16T00:00:00Z</dcterms:created>
  <dcterms:modified xsi:type="dcterms:W3CDTF">2025-12-31T14:12:14Z</dcterms:modified>
</cp:coreProperties>
</file>